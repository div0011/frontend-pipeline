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Frontend Pipeline — Business Proposal</a:t>
            </a:r>
          </a:p>
        </p:txBody>
      </p:sp>
      <p:sp>
        <p:nvSpPr>
          <p:cNvPr id="3" name="Content Placeholder 2"/>
          <p:cNvSpPr>
            <a:spLocks noGrp="1"/>
          </p:cNvSpPr>
          <p:nvPr>
            <p:ph idx="1"/>
          </p:nvPr>
        </p:nvSpPr>
        <p:spPr/>
        <p:txBody>
          <a:bodyPr/>
          <a:lstStyle/>
          <a:p>
            <a:pPr lvl="0" indent="0" marL="0">
              <a:buNone/>
            </a:pPr>
            <a:r>
              <a:rPr b="1"/>
              <a:t>Autonomous Multi-Agent Website Redesign Platform</a:t>
            </a:r>
            <a:br/>
            <a:r>
              <a:rPr i="1"/>
              <a:t>From audit to production-ready Next.js in one command.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Executive Summary</a:t>
            </a:r>
          </a:p>
          <a:p>
            <a:pPr lvl="0" indent="0" marL="0">
              <a:buNone/>
            </a:pPr>
            <a:r>
              <a:rPr/>
              <a:t>The Frontend Pipeline is an agent-native orchestration platform that behaves like a premium digital agency. Given a single prompt — </a:t>
            </a:r>
            <a:r>
              <a:rPr i="1"/>
              <a:t>“Redesign the homepage of https://example.com into a cinematic, award-winning website”</a:t>
            </a:r>
            <a:r>
              <a:rPr/>
              <a:t> — it autonomously plans, crawls, researches, art-directs, designs, engineers, and QA-tests the redesign, then delivers a production-ready Next.js project plus a full set of strategy reports.</a:t>
            </a:r>
          </a:p>
          <a:p>
            <a:pPr lvl="0" indent="0" marL="0">
              <a:buNone/>
            </a:pPr>
            <a:r>
              <a:rPr/>
              <a:t>For a frontend development firm, this platform eliminates the manual overhead of website audits, competitive research, design direction, and code scaffolding. It standardizes quality, reduces build time from weeks to minutes, and provides auditable, data-driven redesign recommendations based on real SEO scores, design audits, and business maturity metrics.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 What the Pipeline Does</a:t>
            </a:r>
          </a:p>
          <a:p>
            <a:pPr lvl="0" indent="0" marL="0">
              <a:spcBef>
                <a:spcPts val="3000"/>
              </a:spcBef>
              <a:buNone/>
            </a:pPr>
            <a:r>
              <a:rPr b="1"/>
              <a:t>2.1 The Problem It Solves</a:t>
            </a:r>
          </a:p>
          <a:p>
            <a:pPr lvl="0" indent="0" marL="0">
              <a:buNone/>
            </a:pPr>
            <a:r>
              <a:rPr/>
              <a:t>Traditional website redesign follows a slow, manual path:</a:t>
            </a:r>
          </a:p>
          <a:p>
            <a:pPr lvl="0" indent="-342900" marL="342900">
              <a:buAutoNum type="arabicPeriod"/>
            </a:pPr>
            <a:r>
              <a:rPr/>
              <a:t>Manual site audit (screenshots, SEO tools, UX heuristics)</a:t>
            </a:r>
          </a:p>
          <a:p>
            <a:pPr lvl="0" indent="-342900" marL="342900">
              <a:buAutoNum type="arabicPeriod"/>
            </a:pPr>
            <a:r>
              <a:rPr/>
              <a:t>Brand and competitor research (hours of browsing and note-taking)</a:t>
            </a:r>
          </a:p>
          <a:p>
            <a:pPr lvl="0" indent="-342900" marL="342900">
              <a:buAutoNum type="arabicPeriod"/>
            </a:pPr>
            <a:r>
              <a:rPr/>
              <a:t>Art direction (moodboards, color systems, typography)</a:t>
            </a:r>
          </a:p>
          <a:p>
            <a:pPr lvl="0" indent="-342900" marL="342900">
              <a:buAutoNum type="arabicPeriod"/>
            </a:pPr>
            <a:r>
              <a:rPr/>
              <a:t>UX planning (sitemaps, wireframes, CTA strategy)</a:t>
            </a:r>
          </a:p>
          <a:p>
            <a:pPr lvl="0" indent="-342900" marL="342900">
              <a:buAutoNum type="arabicPeriod"/>
            </a:pPr>
            <a:r>
              <a:rPr/>
              <a:t>UI design (tokens, components, responsive layouts)</a:t>
            </a:r>
          </a:p>
          <a:p>
            <a:pPr lvl="0" indent="-342900" marL="342900">
              <a:buAutoNum type="arabicPeriod"/>
            </a:pPr>
            <a:r>
              <a:rPr/>
              <a:t>Motion design (animations, scroll narratives)</a:t>
            </a:r>
          </a:p>
          <a:p>
            <a:pPr lvl="0" indent="-342900" marL="342900">
              <a:buAutoNum type="arabicPeriod"/>
            </a:pPr>
            <a:r>
              <a:rPr/>
              <a:t>Frontend engineering (Next.js, React, TypeScript, Tailwind)</a:t>
            </a:r>
          </a:p>
          <a:p>
            <a:pPr lvl="0" indent="-342900" marL="342900">
              <a:buAutoNum type="arabicPeriod"/>
            </a:pPr>
            <a:r>
              <a:rPr/>
              <a:t>QA (responsiveness, Lighthouse, accessibility, SEO, performance)</a:t>
            </a:r>
          </a:p>
          <a:p>
            <a:pPr lvl="0" indent="-342900" marL="342900">
              <a:buAutoNum type="arabicPeriod"/>
            </a:pPr>
            <a:r>
              <a:rPr/>
              <a:t>Delivery (zip, reports, deployment instructions)</a:t>
            </a:r>
          </a:p>
          <a:p>
            <a:pPr lvl="0" indent="0" marL="0">
              <a:buNone/>
            </a:pPr>
            <a:r>
              <a:rPr/>
              <a:t>Each step requires specialist knowledge, and handoffs between teams introduce errors, inconsistencies, and delays.</a:t>
            </a:r>
          </a:p>
          <a:p>
            <a:pPr lvl="0" indent="0" marL="0">
              <a:spcBef>
                <a:spcPts val="3000"/>
              </a:spcBef>
              <a:buNone/>
            </a:pPr>
            <a:r>
              <a:rPr b="1"/>
              <a:t>2.2 The Solution</a:t>
            </a:r>
          </a:p>
          <a:p>
            <a:pPr lvl="0" indent="0" marL="0">
              <a:buNone/>
            </a:pPr>
            <a:r>
              <a:rPr/>
              <a:t>The Frontend Pipeline replaces this manual chain with </a:t>
            </a:r>
            <a:r>
              <a:rPr b="1"/>
              <a:t>10 specialized AI agents</a:t>
            </a:r>
            <a:r>
              <a:rPr/>
              <a:t> coordinated by a Master Orchestrator. Each agent owns a single responsibility, communicates through typed contracts, and produces validated, structured outputs. The system runs in parallel where possible, retries on failure, and delivers a complete, build-passing Next.js project.</a:t>
            </a:r>
          </a:p>
          <a:p>
            <a:pPr lvl="0" indent="0" marL="0">
              <a:spcBef>
                <a:spcPts val="3000"/>
              </a:spcBef>
              <a:buNone/>
            </a:pPr>
            <a:r>
              <a:rPr b="1"/>
              <a:t>2.3 Core Capabilities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044700"/>
                <a:gridCol w="3060700"/>
              </a:tblGrid>
              <a:tr h="0">
                <a:tc>
                  <a:txBody>
                    <a:bodyPr/>
                    <a:lstStyle/>
                    <a:p>
                      <a:pPr lvl="0" indent="0" marL="0">
                        <a:buNone/>
                      </a:pPr>
                      <a:r>
                        <a:rPr/>
                        <a:t>Capability</a:t>
                      </a:r>
                    </a:p>
                  </a:txBody>
                  <a:tcPr/>
                </a:tc>
                <a:tc>
                  <a:txBody>
                    <a:bodyPr/>
                    <a:lstStyle/>
                    <a:p>
                      <a:pPr lvl="0" indent="0" marL="0">
                        <a:buNone/>
                      </a:pPr>
                      <a:r>
                        <a:rPr/>
                        <a:t>What It Delivers</a:t>
                      </a:r>
                    </a:p>
                  </a:txBody>
                  <a:tcPr/>
                </a:tc>
              </a:tr>
              <a:tr h="0">
                <a:tc>
                  <a:txBody>
                    <a:bodyPr/>
                    <a:lstStyle/>
                    <a:p>
                      <a:pPr lvl="0" indent="0" marL="0">
                        <a:buNone/>
                      </a:pPr>
                      <a:r>
                        <a:rPr b="1"/>
                        <a:t>Website Analysis</a:t>
                      </a:r>
                    </a:p>
                  </a:txBody>
                </a:tc>
                <a:tc>
                  <a:txBody>
                    <a:bodyPr/>
                    <a:lstStyle/>
                    <a:p>
                      <a:pPr lvl="0" indent="0" marL="0">
                        <a:buNone/>
                      </a:pPr>
                      <a:r>
                        <a:rPr/>
                        <a:t>Full-site crawl, desktop/mobile screenshots, UI/UX audit, color/typography detection, weakness identification</a:t>
                      </a:r>
                    </a:p>
                  </a:txBody>
                </a:tc>
              </a:tr>
              <a:tr h="0">
                <a:tc>
                  <a:txBody>
                    <a:bodyPr/>
                    <a:lstStyle/>
                    <a:p>
                      <a:pPr lvl="0" indent="0" marL="0">
                        <a:buNone/>
                      </a:pPr>
                      <a:r>
                        <a:rPr b="1"/>
                        <a:t>SEO Audit</a:t>
                      </a:r>
                    </a:p>
                  </a:txBody>
                </a:tc>
                <a:tc>
                  <a:txBody>
                    <a:bodyPr/>
                    <a:lstStyle/>
                    <a:p>
                      <a:pPr lvl="0" indent="0" marL="0">
                        <a:buNone/>
                      </a:pPr>
                      <a:r>
                        <a:rPr/>
                        <a:t>Lighthouse scores, Core Web Vitals, heading analysis, semantic HTML review, keyword opportunities, accessibility checks</a:t>
                      </a:r>
                    </a:p>
                  </a:txBody>
                </a:tc>
              </a:tr>
              <a:tr h="0">
                <a:tc>
                  <a:txBody>
                    <a:bodyPr/>
                    <a:lstStyle/>
                    <a:p>
                      <a:pPr lvl="0" indent="0" marL="0">
                        <a:buNone/>
                      </a:pPr>
                      <a:r>
                        <a:rPr b="1"/>
                        <a:t>Brand Research</a:t>
                      </a:r>
                    </a:p>
                  </a:txBody>
                </a:tc>
                <a:tc>
                  <a:txBody>
                    <a:bodyPr/>
                    <a:lstStyle/>
                    <a:p>
                      <a:pPr lvl="0" indent="0" marL="0">
                        <a:buNone/>
                      </a:pPr>
                      <a:r>
                        <a:rPr/>
                        <a:t>Brand DNA document, competitor identification, audience profiling, positioning analysis, industry trends</a:t>
                      </a:r>
                    </a:p>
                  </a:txBody>
                </a:tc>
              </a:tr>
              <a:tr h="0">
                <a:tc>
                  <a:txBody>
                    <a:bodyPr/>
                    <a:lstStyle/>
                    <a:p>
                      <a:pPr lvl="0" indent="0" marL="0">
                        <a:buNone/>
                      </a:pPr>
                      <a:r>
                        <a:rPr b="1"/>
                        <a:t>Lead Discovery</a:t>
                      </a:r>
                    </a:p>
                  </a:txBody>
                </a:tc>
                <a:tc>
                  <a:txBody>
                    <a:bodyPr/>
                    <a:lstStyle/>
                    <a:p>
                      <a:pPr lvl="0" indent="0" marL="0">
                        <a:buNone/>
                      </a:pPr>
                      <a:r>
                        <a:rPr/>
                        <a:t>Top 20 prospects ranked by SEO score, design quality, business maturity, and composite lead score — with personalized redesign pitches</a:t>
                      </a:r>
                    </a:p>
                  </a:txBody>
                </a:tc>
              </a:tr>
              <a:tr h="0">
                <a:tc>
                  <a:txBody>
                    <a:bodyPr/>
                    <a:lstStyle/>
                    <a:p>
                      <a:pPr lvl="0" indent="0" marL="0">
                        <a:buNone/>
                      </a:pPr>
                      <a:r>
                        <a:rPr b="1"/>
                        <a:t>Creative Direction</a:t>
                      </a:r>
                    </a:p>
                  </a:txBody>
                </a:tc>
                <a:tc>
                  <a:txBody>
                    <a:bodyPr/>
                    <a:lstStyle/>
                    <a:p>
                      <a:pPr lvl="0" indent="0" marL="0">
                        <a:buNone/>
                      </a:pPr>
                      <a:r>
                        <a:rPr/>
                        <a:t>Art direction brief, moodboards, color system, typography system, signature interaction concept, design principles</a:t>
                      </a:r>
                    </a:p>
                  </a:txBody>
                </a:tc>
              </a:tr>
              <a:tr h="0">
                <a:tc>
                  <a:txBody>
                    <a:bodyPr/>
                    <a:lstStyle/>
                    <a:p>
                      <a:pPr lvl="0" indent="0" marL="0">
                        <a:buNone/>
                      </a:pPr>
                      <a:r>
                        <a:rPr b="1"/>
                        <a:t>UX Planning</a:t>
                      </a:r>
                    </a:p>
                  </a:txBody>
                </a:tc>
                <a:tc>
                  <a:txBody>
                    <a:bodyPr/>
                    <a:lstStyle/>
                    <a:p>
                      <a:pPr lvl="0" indent="0" marL="0">
                        <a:buNone/>
                      </a:pPr>
                      <a:r>
                        <a:rPr/>
                        <a:t>Sitemap, information architecture, homepage flow, wireframes, CTA hierarchy, conversion strategy</a:t>
                      </a:r>
                    </a:p>
                  </a:txBody>
                </a:tc>
              </a:tr>
              <a:tr h="0">
                <a:tc>
                  <a:txBody>
                    <a:bodyPr/>
                    <a:lstStyle/>
                    <a:p>
                      <a:pPr lvl="0" indent="0" marL="0">
                        <a:buNone/>
                      </a:pPr>
                      <a:r>
                        <a:rPr b="1"/>
                        <a:t>UI Design</a:t>
                      </a:r>
                    </a:p>
                  </a:txBody>
                </a:tc>
                <a:tc>
                  <a:txBody>
                    <a:bodyPr/>
                    <a:lstStyle/>
                    <a:p>
                      <a:pPr lvl="0" indent="0" marL="0">
                        <a:buNone/>
                      </a:pPr>
                      <a:r>
                        <a:rPr/>
                        <a:t>Design tokens, spacing system, typography scale, color palette, component specs, responsive layouts</a:t>
                      </a:r>
                    </a:p>
                  </a:txBody>
                </a:tc>
              </a:tr>
              <a:tr h="0">
                <a:tc>
                  <a:txBody>
                    <a:bodyPr/>
                    <a:lstStyle/>
                    <a:p>
                      <a:pPr lvl="0" indent="0" marL="0">
                        <a:buNone/>
                      </a:pPr>
                      <a:r>
                        <a:rPr b="1"/>
                        <a:t>Motion Design</a:t>
                      </a:r>
                    </a:p>
                  </a:txBody>
                </a:tc>
                <a:tc>
                  <a:txBody>
                    <a:bodyPr/>
                    <a:lstStyle/>
                    <a:p>
                      <a:pPr lvl="0" indent="0" marL="0">
                        <a:buNone/>
                      </a:pPr>
                      <a:r>
                        <a:rPr/>
                        <a:t>Animation specs, scroll narrative, cursor interactions, performance budgets, reduced-motion fallbacks</a:t>
                      </a:r>
                    </a:p>
                  </a:txBody>
                </a:tc>
              </a:tr>
              <a:tr h="0">
                <a:tc>
                  <a:txBody>
                    <a:bodyPr/>
                    <a:lstStyle/>
                    <a:p>
                      <a:pPr lvl="0" indent="0" marL="0">
                        <a:buNone/>
                      </a:pPr>
                      <a:r>
                        <a:rPr b="1"/>
                        <a:t>Frontend Engineering</a:t>
                      </a:r>
                    </a:p>
                  </a:txBody>
                </a:tc>
                <a:tc>
                  <a:txBody>
                    <a:bodyPr/>
                    <a:lstStyle/>
                    <a:p>
                      <a:pPr lvl="0" indent="0" marL="0">
                        <a:buNone/>
                      </a:pPr>
                      <a:r>
                        <a:rPr/>
                        <a:t>Production-ready Next.js codebase (TypeScript + Tailwind + GSAP + Framer Motion + Lenis + Three.js)</a:t>
                      </a:r>
                    </a:p>
                  </a:txBody>
                </a:tc>
              </a:tr>
              <a:tr h="0">
                <a:tc>
                  <a:txBody>
                    <a:bodyPr/>
                    <a:lstStyle/>
                    <a:p>
                      <a:pPr lvl="0" indent="0" marL="0">
                        <a:buNone/>
                      </a:pPr>
                      <a:r>
                        <a:rPr b="1"/>
                        <a:t>QA Gate</a:t>
                      </a:r>
                    </a:p>
                  </a:txBody>
                </a:tc>
                <a:tc>
                  <a:txBody>
                    <a:bodyPr/>
                    <a:lstStyle/>
                    <a:p>
                      <a:pPr lvl="0" indent="0" marL="0">
                        <a:buNone/>
                      </a:pPr>
                      <a:r>
                        <a:rPr/>
                        <a:t>7-dimension quality score (responsiveness, Lighthouse, accessibility, SEO, performance, animation, consistency) with automatic rework loop</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Pipeline Walkthrough</a:t>
            </a:r>
          </a:p>
          <a:p>
            <a:pPr lvl="0" indent="0" marL="0">
              <a:spcBef>
                <a:spcPts val="3000"/>
              </a:spcBef>
              <a:buNone/>
            </a:pPr>
            <a:r>
              <a:rPr b="1"/>
              <a:t>3.1 Command Entry</a:t>
            </a:r>
          </a:p>
          <a:p>
            <a:pPr lvl="0" indent="0">
              <a:buNone/>
            </a:pPr>
            <a:r>
              <a:rPr>
                <a:latin typeface="Courier"/>
              </a:rPr>
              <a:t>python scripts/run_pipeline.py </a:t>
            </a:r>
            <a:r>
              <a:rPr>
                <a:solidFill>
                  <a:srgbClr val="4070A0"/>
                </a:solidFill>
                <a:latin typeface="Courier"/>
              </a:rPr>
              <a:t>"Redesign https://example.com into a cinematic site"</a:t>
            </a:r>
            <a:r>
              <a:rPr>
                <a:latin typeface="Courier"/>
              </a:rPr>
              <a:t> </a:t>
            </a:r>
            <a:r>
              <a:rPr>
                <a:solidFill>
                  <a:srgbClr val="7D9029"/>
                </a:solidFill>
                <a:latin typeface="Courier"/>
              </a:rPr>
              <a:t>--project</a:t>
            </a:r>
            <a:r>
              <a:rPr>
                <a:latin typeface="Courier"/>
              </a:rPr>
              <a:t> example</a:t>
            </a:r>
          </a:p>
          <a:p>
            <a:pPr lvl="0" indent="0" marL="0">
              <a:spcBef>
                <a:spcPts val="3000"/>
              </a:spcBef>
              <a:buNone/>
            </a:pPr>
            <a:r>
              <a:rPr b="1"/>
              <a:t>3.2 Phase 1: Analysis (Parallel)</a:t>
            </a:r>
          </a:p>
          <a:p>
            <a:pPr lvl="0" indent="0" marL="0">
              <a:buNone/>
            </a:pPr>
            <a:r>
              <a:rPr/>
              <a:t>Three agents run simultaneously with no dependencies on each other:</a:t>
            </a:r>
          </a:p>
          <a:p>
            <a:pPr lvl="0" indent="0">
              <a:buNone/>
            </a:pPr>
            <a:r>
              <a:rPr>
                <a:latin typeface="Courier"/>
              </a:rPr>
              <a:t>┌─────────────────┐  ┌─────────────────┐  ┌─────────────────┐
│ Website Analysis │  │      SEO        │  │  Brand Research │
│ • Crawl site     │  │ • Lighthouse    │  │ • Brand DNA     │
│ • Screenshots    │  │ • CWV scores    │  │ • Competitors   │
│ • Vision audit   │  │ • Metadata      │  │ • Audience      │
│ • UI/UX critique │  │ • Accessibility │  │ • Positioning   │
└────────┬────────┘  └────────┬────────┘  └────────┬────────┘
         │                    │                    │
         └────────────────────┼────────────────────┘
                              ▼
                   ┌─────────────────────┐
                   │   Lead Discovery    │
                   │ • Google Maps       │
                   │ • LinkedIn          │
                   │ • Clutch / Crunchbase│
                   │ • Score &amp; rank top 20│
                   └─────────────────────┘</a:t>
            </a:r>
          </a:p>
          <a:p>
            <a:pPr lvl="0" indent="0" marL="0">
              <a:buNone/>
            </a:pPr>
            <a:r>
              <a:rPr b="1"/>
              <a:t>Outputs:</a:t>
            </a:r>
            <a:r>
              <a:rPr/>
              <a:t> </a:t>
            </a:r>
            <a:r>
              <a:rPr>
                <a:latin typeface="Courier"/>
              </a:rPr>
              <a:t>WebsiteAnalysisOutput</a:t>
            </a:r>
            <a:r>
              <a:rPr/>
              <a:t>, </a:t>
            </a:r>
            <a:r>
              <a:rPr>
                <a:latin typeface="Courier"/>
              </a:rPr>
              <a:t>SeoReport</a:t>
            </a:r>
            <a:r>
              <a:rPr/>
              <a:t>, </a:t>
            </a:r>
            <a:r>
              <a:rPr>
                <a:latin typeface="Courier"/>
              </a:rPr>
              <a:t>BrandDna</a:t>
            </a:r>
            <a:r>
              <a:rPr/>
              <a:t>, </a:t>
            </a:r>
            <a:r>
              <a:rPr>
                <a:latin typeface="Courier"/>
              </a:rPr>
              <a:t>LeadReport</a:t>
            </a:r>
          </a:p>
          <a:p>
            <a:pPr lvl="0" indent="0" marL="0">
              <a:spcBef>
                <a:spcPts val="3000"/>
              </a:spcBef>
              <a:buNone/>
            </a:pPr>
            <a:r>
              <a:rPr b="1"/>
              <a:t>3.3 Phase 2: Creative Direction</a:t>
            </a:r>
          </a:p>
          <a:p>
            <a:pPr lvl="0" indent="0" marL="0">
              <a:buNone/>
            </a:pPr>
            <a:r>
              <a:rPr/>
              <a:t>The </a:t>
            </a:r>
            <a:r>
              <a:rPr b="1"/>
              <a:t>Creative Director</a:t>
            </a:r>
            <a:r>
              <a:rPr/>
              <a:t> agent consumes all analysis outputs and produces the single source of truth for the redesign:</a:t>
            </a:r>
          </a:p>
          <a:p>
            <a:pPr lvl="0"/>
            <a:r>
              <a:rPr b="1"/>
              <a:t>Color System</a:t>
            </a:r>
            <a:r>
              <a:rPr/>
              <a:t> — primary, secondary, accent, neutral scale with hex values, justified against brand and audience</a:t>
            </a:r>
          </a:p>
          <a:p>
            <a:pPr lvl="0"/>
            <a:r>
              <a:rPr b="1"/>
              <a:t>Typography System</a:t>
            </a:r>
            <a:r>
              <a:rPr/>
              <a:t> — display face, body face, accent face, weight pairings, type scale</a:t>
            </a:r>
          </a:p>
          <a:p>
            <a:pPr lvl="0"/>
            <a:r>
              <a:rPr b="1"/>
              <a:t>Moodboard</a:t>
            </a:r>
            <a:r>
              <a:rPr/>
              <a:t> — 4–6 concrete visual reference points (textures, materials, real-world analogues)</a:t>
            </a:r>
          </a:p>
          <a:p>
            <a:pPr lvl="0"/>
            <a:r>
              <a:rPr b="1"/>
              <a:t>Signature Moment</a:t>
            </a:r>
            <a:r>
              <a:rPr/>
              <a:t> — ONE unique interaction/visual device specific to the brand</a:t>
            </a:r>
          </a:p>
          <a:p>
            <a:pPr lvl="0"/>
            <a:r>
              <a:rPr b="1"/>
              <a:t>Design Principles</a:t>
            </a:r>
            <a:r>
              <a:rPr/>
              <a:t> — what to avoid (industry clichés to break from)</a:t>
            </a:r>
          </a:p>
          <a:p>
            <a:pPr lvl="0" indent="0" marL="0">
              <a:spcBef>
                <a:spcPts val="3000"/>
              </a:spcBef>
              <a:buNone/>
            </a:pPr>
            <a:r>
              <a:rPr b="1"/>
              <a:t>3.4 Phase 3: Experience Design (Parallel)</a:t>
            </a:r>
          </a:p>
          <a:p>
            <a:pPr lvl="0" indent="0" marL="0">
              <a:buNone/>
            </a:pPr>
            <a:r>
              <a:rPr/>
              <a:t>Two agents run in parallel, both consuming the Creative Direction:</a:t>
            </a:r>
          </a:p>
          <a:p>
            <a:pPr lvl="0" indent="0">
              <a:buNone/>
            </a:pPr>
            <a:r>
              <a:rPr>
                <a:latin typeface="Courier"/>
              </a:rPr>
              <a:t>┌─────────────────┐         ┌─────────────────┐
│       UX        │─────────│     UI Design   │
│ • Sitemap       │         │ • Design tokens │
│ • Wireframes    │         │ • Components    │
│ • IA            │         │ • Spacing       │
│ • CTA hierarchy │         │ • Typography    │
│ • Conversion    │         │ • Responsive    │
└────────┬────────┘         └────────┬────────┘
         │                           │
         └─────────────┬─────────────┘
                       ▼
               ┌─────────────────┐
               │  Motion Design  │
               │ • Scroll-scrub  │
               │ • Stagger timing│
               │ • Custom easing │
               │ • Lenis coherence│
               └────────┬────────┘
                        │
                        ▼
               ┌─────────────────┐
               │   Engineering   │
               │ • Next.js code  │
               │ • TypeScript    │
               │ • Tailwind      │
               │ • GSAP/Framer   │
               │ • Three.js      │
               └────────┬────────┘
                        │
                        ▼
               ┌─────────────────┐
               │       QA        │
               │ • 7-dim score   │
               │ • Rework loop   │
               │ • Gate pass/fail│
               └────────┬────────┘
                        │
                        ▼
               ┌─────────────────┐
               │   Synthesizer   │
               │ • Save project  │
               │ • Generate 10   │
               │   reports       │
               │ • Zip artifact  │
               └─────────────────┘</a:t>
            </a:r>
          </a:p>
          <a:p>
            <a:pPr lvl="0" indent="0" marL="0">
              <a:spcBef>
                <a:spcPts val="3000"/>
              </a:spcBef>
              <a:buNone/>
            </a:pPr>
            <a:r>
              <a:rPr b="1"/>
              <a:t>3.5 Phase 4: Engineering &amp; QA</a:t>
            </a:r>
          </a:p>
          <a:p>
            <a:pPr lvl="0" indent="0" marL="0">
              <a:buNone/>
            </a:pPr>
            <a:r>
              <a:rPr/>
              <a:t>The </a:t>
            </a:r>
            <a:r>
              <a:rPr b="1"/>
              <a:t>Frontend Engineering</a:t>
            </a:r>
            <a:r>
              <a:rPr/>
              <a:t> agent generates the complete Next.js project:</a:t>
            </a:r>
          </a:p>
          <a:p>
            <a:pPr lvl="0"/>
            <a:r>
              <a:rPr b="1"/>
              <a:t>Framework:</a:t>
            </a:r>
            <a:r>
              <a:rPr/>
              <a:t> Next.js 15 (App Router)</a:t>
            </a:r>
          </a:p>
          <a:p>
            <a:pPr lvl="0"/>
            <a:r>
              <a:rPr b="1"/>
              <a:t>Language:</a:t>
            </a:r>
            <a:r>
              <a:rPr/>
              <a:t> TypeScript</a:t>
            </a:r>
          </a:p>
          <a:p>
            <a:pPr lvl="0"/>
            <a:r>
              <a:rPr b="1"/>
              <a:t>Styling:</a:t>
            </a:r>
            <a:r>
              <a:rPr/>
              <a:t> Tailwind CSS 4</a:t>
            </a:r>
          </a:p>
          <a:p>
            <a:pPr lvl="0"/>
            <a:r>
              <a:rPr b="1"/>
              <a:t>Animation:</a:t>
            </a:r>
            <a:r>
              <a:rPr/>
              <a:t> GSAP ScrollTrigger, Framer Motion, Lenis smooth scroll</a:t>
            </a:r>
          </a:p>
          <a:p>
            <a:pPr lvl="0"/>
            <a:r>
              <a:rPr b="1"/>
              <a:t>3D:</a:t>
            </a:r>
            <a:r>
              <a:rPr/>
              <a:t> Three.js + @react-three/fiber + @react-three/drei</a:t>
            </a:r>
          </a:p>
          <a:p>
            <a:pPr lvl="0"/>
            <a:r>
              <a:rPr b="1"/>
              <a:t>Fonts:</a:t>
            </a:r>
            <a:r>
              <a:rPr/>
              <a:t> Google Fonts (Oswald, Caveat, Inter, Playfair Display, Space Grotesk, JetBrains Mono)</a:t>
            </a:r>
          </a:p>
          <a:p>
            <a:pPr lvl="0"/>
            <a:r>
              <a:rPr b="1"/>
              <a:t>Icons:</a:t>
            </a:r>
            <a:r>
              <a:rPr/>
              <a:t> Custom SVG system</a:t>
            </a:r>
          </a:p>
          <a:p>
            <a:pPr lvl="0" indent="0" marL="0">
              <a:buNone/>
            </a:pPr>
            <a:r>
              <a:rPr/>
              <a:t>The </a:t>
            </a:r>
            <a:r>
              <a:rPr b="1"/>
              <a:t>QA</a:t>
            </a:r>
            <a:r>
              <a:rPr/>
              <a:t> agent scores the output across 7 dimensions: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00200"/>
                <a:gridCol w="1168400"/>
                <a:gridCol w="2336800"/>
              </a:tblGrid>
              <a:tr h="0">
                <a:tc>
                  <a:txBody>
                    <a:bodyPr/>
                    <a:lstStyle/>
                    <a:p>
                      <a:pPr lvl="0" indent="0" marL="0">
                        <a:buNone/>
                      </a:pPr>
                      <a:r>
                        <a:rPr/>
                        <a:t>Dimension</a:t>
                      </a:r>
                    </a:p>
                  </a:txBody>
                  <a:tcPr/>
                </a:tc>
                <a:tc>
                  <a:txBody>
                    <a:bodyPr/>
                    <a:lstStyle/>
                    <a:p>
                      <a:pPr lvl="0" indent="0" marL="0">
                        <a:buNone/>
                      </a:pPr>
                      <a:r>
                        <a:rPr/>
                        <a:t>Weight</a:t>
                      </a:r>
                    </a:p>
                  </a:txBody>
                  <a:tcPr/>
                </a:tc>
                <a:tc>
                  <a:txBody>
                    <a:bodyPr/>
                    <a:lstStyle/>
                    <a:p>
                      <a:pPr lvl="0" indent="0" marL="0">
                        <a:buNone/>
                      </a:pPr>
                      <a:r>
                        <a:rPr/>
                        <a:t>What It Checks</a:t>
                      </a:r>
                    </a:p>
                  </a:txBody>
                  <a:tcPr/>
                </a:tc>
              </a:tr>
              <a:tr h="0">
                <a:tc>
                  <a:txBody>
                    <a:bodyPr/>
                    <a:lstStyle/>
                    <a:p>
                      <a:pPr lvl="0" indent="0" marL="0">
                        <a:buNone/>
                      </a:pPr>
                      <a:r>
                        <a:rPr/>
                        <a:t>Responsiveness</a:t>
                      </a:r>
                    </a:p>
                  </a:txBody>
                </a:tc>
                <a:tc>
                  <a:txBody>
                    <a:bodyPr/>
                    <a:lstStyle/>
                    <a:p>
                      <a:pPr lvl="0" indent="0" marL="0">
                        <a:buNone/>
                      </a:pPr>
                      <a:r>
                        <a:rPr/>
                        <a:t>1.0</a:t>
                      </a:r>
                    </a:p>
                  </a:txBody>
                </a:tc>
                <a:tc>
                  <a:txBody>
                    <a:bodyPr/>
                    <a:lstStyle/>
                    <a:p>
                      <a:pPr lvl="0" indent="0" marL="0">
                        <a:buNone/>
                      </a:pPr>
                      <a:r>
                        <a:rPr/>
                        <a:t>Mobile, tablet, desktop breakpoints</a:t>
                      </a:r>
                    </a:p>
                  </a:txBody>
                </a:tc>
              </a:tr>
              <a:tr h="0">
                <a:tc>
                  <a:txBody>
                    <a:bodyPr/>
                    <a:lstStyle/>
                    <a:p>
                      <a:pPr lvl="0" indent="0" marL="0">
                        <a:buNone/>
                      </a:pPr>
                      <a:r>
                        <a:rPr/>
                        <a:t>Lighthouse</a:t>
                      </a:r>
                    </a:p>
                  </a:txBody>
                </a:tc>
                <a:tc>
                  <a:txBody>
                    <a:bodyPr/>
                    <a:lstStyle/>
                    <a:p>
                      <a:pPr lvl="0" indent="0" marL="0">
                        <a:buNone/>
                      </a:pPr>
                      <a:r>
                        <a:rPr/>
                        <a:t>1.0</a:t>
                      </a:r>
                    </a:p>
                  </a:txBody>
                </a:tc>
                <a:tc>
                  <a:txBody>
                    <a:bodyPr/>
                    <a:lstStyle/>
                    <a:p>
                      <a:pPr lvl="0" indent="0" marL="0">
                        <a:buNone/>
                      </a:pPr>
                      <a:r>
                        <a:rPr/>
                        <a:t>Performance, accessibility, best practices, SEO</a:t>
                      </a:r>
                    </a:p>
                  </a:txBody>
                </a:tc>
              </a:tr>
              <a:tr h="0">
                <a:tc>
                  <a:txBody>
                    <a:bodyPr/>
                    <a:lstStyle/>
                    <a:p>
                      <a:pPr lvl="0" indent="0" marL="0">
                        <a:buNone/>
                      </a:pPr>
                      <a:r>
                        <a:rPr/>
                        <a:t>Accessibility</a:t>
                      </a:r>
                    </a:p>
                  </a:txBody>
                </a:tc>
                <a:tc>
                  <a:txBody>
                    <a:bodyPr/>
                    <a:lstStyle/>
                    <a:p>
                      <a:pPr lvl="0" indent="0" marL="0">
                        <a:buNone/>
                      </a:pPr>
                      <a:r>
                        <a:rPr/>
                        <a:t>1.0</a:t>
                      </a:r>
                    </a:p>
                  </a:txBody>
                </a:tc>
                <a:tc>
                  <a:txBody>
                    <a:bodyPr/>
                    <a:lstStyle/>
                    <a:p>
                      <a:pPr lvl="0" indent="0" marL="0">
                        <a:buNone/>
                      </a:pPr>
                      <a:r>
                        <a:rPr/>
                        <a:t>ARIA, contrast, keyboard navigation, semantic HTML</a:t>
                      </a:r>
                    </a:p>
                  </a:txBody>
                </a:tc>
              </a:tr>
              <a:tr h="0">
                <a:tc>
                  <a:txBody>
                    <a:bodyPr/>
                    <a:lstStyle/>
                    <a:p>
                      <a:pPr lvl="0" indent="0" marL="0">
                        <a:buNone/>
                      </a:pPr>
                      <a:r>
                        <a:rPr/>
                        <a:t>SEO</a:t>
                      </a:r>
                    </a:p>
                  </a:txBody>
                </a:tc>
                <a:tc>
                  <a:txBody>
                    <a:bodyPr/>
                    <a:lstStyle/>
                    <a:p>
                      <a:pPr lvl="0" indent="0" marL="0">
                        <a:buNone/>
                      </a:pPr>
                      <a:r>
                        <a:rPr/>
                        <a:t>1.0</a:t>
                      </a:r>
                    </a:p>
                  </a:txBody>
                </a:tc>
                <a:tc>
                  <a:txBody>
                    <a:bodyPr/>
                    <a:lstStyle/>
                    <a:p>
                      <a:pPr lvl="0" indent="0" marL="0">
                        <a:buNone/>
                      </a:pPr>
                      <a:r>
                        <a:rPr/>
                        <a:t>Meta tags, headings, schema.org, Core Web Vitals</a:t>
                      </a:r>
                    </a:p>
                  </a:txBody>
                </a:tc>
              </a:tr>
              <a:tr h="0">
                <a:tc>
                  <a:txBody>
                    <a:bodyPr/>
                    <a:lstStyle/>
                    <a:p>
                      <a:pPr lvl="0" indent="0" marL="0">
                        <a:buNone/>
                      </a:pPr>
                      <a:r>
                        <a:rPr/>
                        <a:t>Performance</a:t>
                      </a:r>
                    </a:p>
                  </a:txBody>
                </a:tc>
                <a:tc>
                  <a:txBody>
                    <a:bodyPr/>
                    <a:lstStyle/>
                    <a:p>
                      <a:pPr lvl="0" indent="0" marL="0">
                        <a:buNone/>
                      </a:pPr>
                      <a:r>
                        <a:rPr/>
                        <a:t>1.0</a:t>
                      </a:r>
                    </a:p>
                  </a:txBody>
                </a:tc>
                <a:tc>
                  <a:txBody>
                    <a:bodyPr/>
                    <a:lstStyle/>
                    <a:p>
                      <a:pPr lvl="0" indent="0" marL="0">
                        <a:buNone/>
                      </a:pPr>
                      <a:r>
                        <a:rPr/>
                        <a:t>Bundle size, lazy loading, animation budget</a:t>
                      </a:r>
                    </a:p>
                  </a:txBody>
                </a:tc>
              </a:tr>
              <a:tr h="0">
                <a:tc>
                  <a:txBody>
                    <a:bodyPr/>
                    <a:lstStyle/>
                    <a:p>
                      <a:pPr lvl="0" indent="0" marL="0">
                        <a:buNone/>
                      </a:pPr>
                      <a:r>
                        <a:rPr/>
                        <a:t>Animation</a:t>
                      </a:r>
                    </a:p>
                  </a:txBody>
                </a:tc>
                <a:tc>
                  <a:txBody>
                    <a:bodyPr/>
                    <a:lstStyle/>
                    <a:p>
                      <a:pPr lvl="0" indent="0" marL="0">
                        <a:buNone/>
                      </a:pPr>
                      <a:r>
                        <a:rPr/>
                        <a:t>1.0</a:t>
                      </a:r>
                    </a:p>
                  </a:txBody>
                </a:tc>
                <a:tc>
                  <a:txBody>
                    <a:bodyPr/>
                    <a:lstStyle/>
                    <a:p>
                      <a:pPr lvl="0" indent="0" marL="0">
                        <a:buNone/>
                      </a:pPr>
                      <a:r>
                        <a:rPr/>
                        <a:t>Scroll narrative, stagger timing, custom easing, reduced-motion</a:t>
                      </a:r>
                    </a:p>
                  </a:txBody>
                </a:tc>
              </a:tr>
              <a:tr h="0">
                <a:tc>
                  <a:txBody>
                    <a:bodyPr/>
                    <a:lstStyle/>
                    <a:p>
                      <a:pPr lvl="0" indent="0" marL="0">
                        <a:buNone/>
                      </a:pPr>
                      <a:r>
                        <a:rPr/>
                        <a:t>Consistency</a:t>
                      </a:r>
                    </a:p>
                  </a:txBody>
                </a:tc>
                <a:tc>
                  <a:txBody>
                    <a:bodyPr/>
                    <a:lstStyle/>
                    <a:p>
                      <a:pPr lvl="0" indent="0" marL="0">
                        <a:buNone/>
                      </a:pPr>
                      <a:r>
                        <a:rPr/>
                        <a:t>1.0</a:t>
                      </a:r>
                    </a:p>
                  </a:txBody>
                </a:tc>
                <a:tc>
                  <a:txBody>
                    <a:bodyPr/>
                    <a:lstStyle/>
                    <a:p>
                      <a:pPr lvl="0" indent="0" marL="0">
                        <a:buNone/>
                      </a:pPr>
                      <a:r>
                        <a:rPr/>
                        <a:t>Design token adherence, component reuse, style mode compliance</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If QA fails, the orchestrator automatically identifies the weakest agent, routes work back, and re-runs QA — up to </a:t>
            </a:r>
            <a:r>
              <a:rPr>
                <a:latin typeface="Courier"/>
              </a:rPr>
              <a:t>max_qa_retries</a:t>
            </a:r>
            <a:r>
              <a:rPr/>
              <a:t> times.</a:t>
            </a:r>
          </a:p>
          <a:p>
            <a:pPr lvl="0" indent="0" marL="0">
              <a:spcBef>
                <a:spcPts val="3000"/>
              </a:spcBef>
              <a:buNone/>
            </a:pPr>
            <a:r>
              <a:rPr b="1"/>
              <a:t>3.6 Phase 5: Delivery</a:t>
            </a:r>
          </a:p>
          <a:p>
            <a:pPr lvl="0" indent="0" marL="0">
              <a:buNone/>
            </a:pPr>
            <a:r>
              <a:rPr/>
              <a:t>The </a:t>
            </a:r>
            <a:r>
              <a:rPr b="1"/>
              <a:t>Synthesizer</a:t>
            </a:r>
            <a:r>
              <a:rPr/>
              <a:t> agent:</a:t>
            </a:r>
          </a:p>
          <a:p>
            <a:pPr lvl="0" indent="-342900" marL="342900">
              <a:buAutoNum type="arabicPeriod"/>
            </a:pPr>
            <a:r>
              <a:rPr/>
              <a:t>Saves the complete Next.js project to </a:t>
            </a:r>
            <a:r>
              <a:rPr>
                <a:latin typeface="Courier"/>
              </a:rPr>
              <a:t>artifacts/projects/{project_id}/</a:t>
            </a:r>
          </a:p>
          <a:p>
            <a:pPr lvl="0" indent="-342900" marL="342900">
              <a:buAutoNum type="arabicPeriod"/>
            </a:pPr>
            <a:r>
              <a:rPr/>
              <a:t>Generates 10 Markdown reports in </a:t>
            </a:r>
            <a:r>
              <a:rPr>
                <a:latin typeface="Courier"/>
              </a:rPr>
              <a:t>artifacts/projects/{project_id}/reports/</a:t>
            </a:r>
          </a:p>
          <a:p>
            <a:pPr lvl="0" indent="-342900" marL="342900">
              <a:buAutoNum type="arabicPeriod"/>
            </a:pPr>
            <a:r>
              <a:rPr/>
              <a:t>Creates a deploy-ready zip file</a:t>
            </a:r>
          </a:p>
          <a:p>
            <a:pPr lvl="0" indent="-342900" marL="342900">
              <a:buAutoNum type="arabicPeriod"/>
            </a:pPr>
            <a:r>
              <a:rPr/>
              <a:t>Returns a </a:t>
            </a:r>
            <a:r>
              <a:rPr>
                <a:latin typeface="Courier"/>
              </a:rPr>
              <a:t>FinalArtifact</a:t>
            </a:r>
            <a:r>
              <a:rPr/>
              <a:t> with QA score, file manifest, and summary</a:t>
            </a:r>
          </a:p>
          <a:p>
            <a:pPr lvl="0" indent="0" marL="0">
              <a:buNone/>
            </a:pPr>
            <a:r>
              <a:rPr b="1"/>
              <a:t>Reports delivered:</a:t>
            </a:r>
            <a:r>
              <a:rPr/>
              <a:t> - </a:t>
            </a:r>
            <a:r>
              <a:rPr>
                <a:latin typeface="Courier"/>
              </a:rPr>
              <a:t>website_analysis.md</a:t>
            </a:r>
            <a:r>
              <a:rPr/>
              <a:t> — Full UI/UX audit with screenshots - </a:t>
            </a:r>
            <a:r>
              <a:rPr>
                <a:latin typeface="Courier"/>
              </a:rPr>
              <a:t>seo.md</a:t>
            </a:r>
            <a:r>
              <a:rPr/>
              <a:t> — SEO + performance plan with Lighthouse scores - </a:t>
            </a:r>
            <a:r>
              <a:rPr>
                <a:latin typeface="Courier"/>
              </a:rPr>
              <a:t>brand.md</a:t>
            </a:r>
            <a:r>
              <a:rPr/>
              <a:t> — Brand DNA document - </a:t>
            </a:r>
            <a:r>
              <a:rPr>
                <a:latin typeface="Courier"/>
              </a:rPr>
              <a:t>lead.md</a:t>
            </a:r>
            <a:r>
              <a:rPr/>
              <a:t> — Top 20 prospects with SEO/design/maturity/lead scores + personalized pitches - </a:t>
            </a:r>
            <a:r>
              <a:rPr>
                <a:latin typeface="Courier"/>
              </a:rPr>
              <a:t>creative.md</a:t>
            </a:r>
            <a:r>
              <a:rPr/>
              <a:t> — Art direction + moodboards - </a:t>
            </a:r>
            <a:r>
              <a:rPr>
                <a:latin typeface="Courier"/>
              </a:rPr>
              <a:t>ux.md</a:t>
            </a:r>
            <a:r>
              <a:rPr/>
              <a:t> — Sitemap + wireframes - </a:t>
            </a:r>
            <a:r>
              <a:rPr>
                <a:latin typeface="Courier"/>
              </a:rPr>
              <a:t>ui.md</a:t>
            </a:r>
            <a:r>
              <a:rPr/>
              <a:t> — Design system + tokens - </a:t>
            </a:r>
            <a:r>
              <a:rPr>
                <a:latin typeface="Courier"/>
              </a:rPr>
              <a:t>motion.md</a:t>
            </a:r>
            <a:r>
              <a:rPr/>
              <a:t> — Animation specs - </a:t>
            </a:r>
            <a:r>
              <a:rPr>
                <a:latin typeface="Courier"/>
              </a:rPr>
              <a:t>engineering.md</a:t>
            </a:r>
            <a:r>
              <a:rPr/>
              <a:t> — Build instructions + code summary - </a:t>
            </a:r>
            <a:r>
              <a:rPr>
                <a:latin typeface="Courier"/>
              </a:rPr>
              <a:t>qa.md</a:t>
            </a:r>
            <a:r>
              <a:rPr/>
              <a:t> — Quality gate report with 7-dim scores - </a:t>
            </a:r>
            <a:r>
              <a:rPr>
                <a:latin typeface="Courier"/>
              </a:rPr>
              <a:t>design_brief.md</a:t>
            </a:r>
            <a:r>
              <a:rPr/>
              <a:t> — Executive summary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 How It Evaluates Websites</a:t>
            </a:r>
          </a:p>
          <a:p>
            <a:pPr lvl="0" indent="0" marL="0">
              <a:buNone/>
            </a:pPr>
            <a:r>
              <a:rPr/>
              <a:t>The pipeline does not blindly redesign — it measures before and after.</a:t>
            </a:r>
          </a:p>
          <a:p>
            <a:pPr lvl="0" indent="0" marL="0">
              <a:spcBef>
                <a:spcPts val="3000"/>
              </a:spcBef>
              <a:buNone/>
            </a:pPr>
            <a:r>
              <a:rPr b="1"/>
              <a:t>4.1 SEO Score Analysis</a:t>
            </a:r>
          </a:p>
          <a:p>
            <a:pPr lvl="0" indent="0" marL="0">
              <a:buNone/>
            </a:pPr>
            <a:r>
              <a:rPr/>
              <a:t>The SEO agent audits:</a:t>
            </a:r>
          </a:p>
          <a:p>
            <a:pPr lvl="0"/>
            <a:r>
              <a:rPr b="1"/>
              <a:t>Technical SEO:</a:t>
            </a:r>
            <a:r>
              <a:rPr/>
              <a:t> Meta tags, title tags, heading structure (H1-H6), semantic HTML, schema.org markup</a:t>
            </a:r>
          </a:p>
          <a:p>
            <a:pPr lvl="0"/>
            <a:r>
              <a:rPr b="1"/>
              <a:t>Core Web Vitals:</a:t>
            </a:r>
            <a:r>
              <a:rPr/>
              <a:t> LCP, FID, CLS from Lighthouse</a:t>
            </a:r>
          </a:p>
          <a:p>
            <a:pPr lvl="0"/>
            <a:r>
              <a:rPr b="1"/>
              <a:t>Accessibility:</a:t>
            </a:r>
            <a:r>
              <a:rPr/>
              <a:t> ARIA labels, color contrast, keyboard navigation, alt text</a:t>
            </a:r>
          </a:p>
          <a:p>
            <a:pPr lvl="0"/>
            <a:r>
              <a:rPr b="1"/>
              <a:t>Content Quality:</a:t>
            </a:r>
            <a:r>
              <a:rPr/>
              <a:t> Heading hierarchy, keyword opportunities, duplicate content</a:t>
            </a:r>
          </a:p>
          <a:p>
            <a:pPr lvl="0"/>
            <a:r>
              <a:rPr b="1"/>
              <a:t>Performance:</a:t>
            </a:r>
            <a:r>
              <a:rPr/>
              <a:t> PageSpeed scores, render-blocking resources, image optimization</a:t>
            </a:r>
          </a:p>
          <a:p>
            <a:pPr lvl="0" indent="0" marL="0">
              <a:buNone/>
            </a:pPr>
            <a:r>
              <a:rPr b="1"/>
              <a:t>Output:</a:t>
            </a:r>
            <a:r>
              <a:rPr/>
              <a:t> </a:t>
            </a:r>
            <a:r>
              <a:rPr>
                <a:latin typeface="Courier"/>
              </a:rPr>
              <a:t>SeoReport</a:t>
            </a:r>
            <a:r>
              <a:rPr/>
              <a:t> with actionable recommendations prioritized by impact.</a:t>
            </a:r>
          </a:p>
          <a:p>
            <a:pPr lvl="0" indent="0" marL="0">
              <a:spcBef>
                <a:spcPts val="3000"/>
              </a:spcBef>
              <a:buNone/>
            </a:pPr>
            <a:r>
              <a:rPr b="1"/>
              <a:t>4.2 Design &amp; UX Audit</a:t>
            </a:r>
          </a:p>
          <a:p>
            <a:pPr lvl="0" indent="0" marL="0">
              <a:buNone/>
            </a:pPr>
            <a:r>
              <a:rPr/>
              <a:t>The Website Analysis agent:</a:t>
            </a:r>
          </a:p>
          <a:p>
            <a:pPr lvl="0"/>
            <a:r>
              <a:rPr b="1"/>
              <a:t>Crawls the entire site</a:t>
            </a:r>
            <a:r>
              <a:rPr/>
              <a:t> (up to 8 pages) to understand structure</a:t>
            </a:r>
          </a:p>
          <a:p>
            <a:pPr lvl="0"/>
            <a:r>
              <a:rPr b="1"/>
              <a:t>Captures desktop and mobile screenshots</a:t>
            </a:r>
            <a:r>
              <a:rPr/>
              <a:t> via Playwright</a:t>
            </a:r>
          </a:p>
          <a:p>
            <a:pPr lvl="0"/>
            <a:r>
              <a:rPr b="1"/>
              <a:t>Runs vision analysis</a:t>
            </a:r>
            <a:r>
              <a:rPr/>
              <a:t> on screenshots to detect:</a:t>
            </a:r>
          </a:p>
          <a:p>
            <a:pPr lvl="1"/>
            <a:r>
              <a:rPr/>
              <a:t>Color palette and contrast ratios</a:t>
            </a:r>
          </a:p>
          <a:p>
            <a:pPr lvl="1"/>
            <a:r>
              <a:rPr/>
              <a:t>Typography system and hierarchy</a:t>
            </a:r>
          </a:p>
          <a:p>
            <a:pPr lvl="1"/>
            <a:r>
              <a:rPr/>
              <a:t>Spacing and grid systems</a:t>
            </a:r>
          </a:p>
          <a:p>
            <a:pPr lvl="1"/>
            <a:r>
              <a:rPr/>
              <a:t>Navigation patterns</a:t>
            </a:r>
          </a:p>
          <a:p>
            <a:pPr lvl="1"/>
            <a:r>
              <a:rPr/>
              <a:t>Content hierarchy</a:t>
            </a:r>
          </a:p>
          <a:p>
            <a:pPr lvl="1"/>
            <a:r>
              <a:rPr/>
              <a:t>Responsiveness issues</a:t>
            </a:r>
          </a:p>
          <a:p>
            <a:pPr lvl="0"/>
            <a:r>
              <a:rPr b="1"/>
              <a:t>Identifies weaknesses</a:t>
            </a:r>
            <a:r>
              <a:rPr/>
              <a:t> with severity ratings</a:t>
            </a:r>
          </a:p>
          <a:p>
            <a:pPr lvl="0" indent="0" marL="0">
              <a:buNone/>
            </a:pPr>
            <a:r>
              <a:rPr b="1"/>
              <a:t>Output:</a:t>
            </a:r>
            <a:r>
              <a:rPr/>
              <a:t> </a:t>
            </a:r>
            <a:r>
              <a:rPr>
                <a:latin typeface="Courier"/>
              </a:rPr>
              <a:t>WebsiteAnalysisOutput</a:t>
            </a:r>
            <a:r>
              <a:rPr/>
              <a:t> with detected colors, typography, spacing, and a ranked list of weaknesses.</a:t>
            </a:r>
          </a:p>
          <a:p>
            <a:pPr lvl="0" indent="0" marL="0">
              <a:spcBef>
                <a:spcPts val="3000"/>
              </a:spcBef>
              <a:buNone/>
            </a:pPr>
            <a:r>
              <a:rPr b="1"/>
              <a:t>4.3 Business Maturity &amp; Lead Scoring</a:t>
            </a:r>
          </a:p>
          <a:p>
            <a:pPr lvl="0" indent="0" marL="0">
              <a:buNone/>
            </a:pPr>
            <a:r>
              <a:rPr/>
              <a:t>The Lead Discovery agent ranks prospects by: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Score Component</a:t>
                      </a:r>
                    </a:p>
                  </a:txBody>
                  <a:tcPr/>
                </a:tc>
                <a:tc>
                  <a:txBody>
                    <a:bodyPr/>
                    <a:lstStyle/>
                    <a:p>
                      <a:pPr lvl="0" indent="0" marL="0">
                        <a:buNone/>
                      </a:pPr>
                      <a:r>
                        <a:rPr/>
                        <a:t>Weight</a:t>
                      </a:r>
                    </a:p>
                  </a:txBody>
                  <a:tcPr/>
                </a:tc>
                <a:tc>
                  <a:txBody>
                    <a:bodyPr/>
                    <a:lstStyle/>
                    <a:p>
                      <a:pPr lvl="0" indent="0" marL="0">
                        <a:buNone/>
                      </a:pPr>
                      <a:r>
                        <a:rPr/>
                        <a:t>Source</a:t>
                      </a:r>
                    </a:p>
                  </a:txBody>
                  <a:tcPr/>
                </a:tc>
              </a:tr>
              <a:tr h="0">
                <a:tc>
                  <a:txBody>
                    <a:bodyPr/>
                    <a:lstStyle/>
                    <a:p>
                      <a:pPr lvl="0" indent="0" marL="0">
                        <a:buNone/>
                      </a:pPr>
                      <a:r>
                        <a:rPr/>
                        <a:t>SEO Score</a:t>
                      </a:r>
                    </a:p>
                  </a:txBody>
                </a:tc>
                <a:tc>
                  <a:txBody>
                    <a:bodyPr/>
                    <a:lstStyle/>
                    <a:p>
                      <a:pPr lvl="0" indent="0" marL="0">
                        <a:buNone/>
                      </a:pPr>
                      <a:r>
                        <a:rPr/>
                        <a:t>25%</a:t>
                      </a:r>
                    </a:p>
                  </a:txBody>
                </a:tc>
                <a:tc>
                  <a:txBody>
                    <a:bodyPr/>
                    <a:lstStyle/>
                    <a:p>
                      <a:pPr lvl="0" indent="0" marL="0">
                        <a:buNone/>
                      </a:pPr>
                      <a:r>
                        <a:rPr/>
                        <a:t>Lighthouse + manual audit</a:t>
                      </a:r>
                    </a:p>
                  </a:txBody>
                </a:tc>
              </a:tr>
              <a:tr h="0">
                <a:tc>
                  <a:txBody>
                    <a:bodyPr/>
                    <a:lstStyle/>
                    <a:p>
                      <a:pPr lvl="0" indent="0" marL="0">
                        <a:buNone/>
                      </a:pPr>
                      <a:r>
                        <a:rPr/>
                        <a:t>Design Score</a:t>
                      </a:r>
                    </a:p>
                  </a:txBody>
                </a:tc>
                <a:tc>
                  <a:txBody>
                    <a:bodyPr/>
                    <a:lstStyle/>
                    <a:p>
                      <a:pPr lvl="0" indent="0" marL="0">
                        <a:buNone/>
                      </a:pPr>
                      <a:r>
                        <a:rPr/>
                        <a:t>25%</a:t>
                      </a:r>
                    </a:p>
                  </a:txBody>
                </a:tc>
                <a:tc>
                  <a:txBody>
                    <a:bodyPr/>
                    <a:lstStyle/>
                    <a:p>
                      <a:pPr lvl="0" indent="0" marL="0">
                        <a:buNone/>
                      </a:pPr>
                      <a:r>
                        <a:rPr/>
                        <a:t>Vision analysis + UX critique</a:t>
                      </a:r>
                    </a:p>
                  </a:txBody>
                </a:tc>
              </a:tr>
              <a:tr h="0">
                <a:tc>
                  <a:txBody>
                    <a:bodyPr/>
                    <a:lstStyle/>
                    <a:p>
                      <a:pPr lvl="0" indent="0" marL="0">
                        <a:buNone/>
                      </a:pPr>
                      <a:r>
                        <a:rPr/>
                        <a:t>Lead Score</a:t>
                      </a:r>
                    </a:p>
                  </a:txBody>
                </a:tc>
                <a:tc>
                  <a:txBody>
                    <a:bodyPr/>
                    <a:lstStyle/>
                    <a:p>
                      <a:pPr lvl="0" indent="0" marL="0">
                        <a:buNone/>
                      </a:pPr>
                      <a:r>
                        <a:rPr/>
                        <a:t>25%</a:t>
                      </a:r>
                    </a:p>
                  </a:txBody>
                </a:tc>
                <a:tc>
                  <a:txBody>
                    <a:bodyPr/>
                    <a:lstStyle/>
                    <a:p>
                      <a:pPr lvl="0" indent="0" marL="0">
                        <a:buNone/>
                      </a:pPr>
                      <a:r>
                        <a:rPr/>
                        <a:t>Business maturity, revenue band, employee count</a:t>
                      </a:r>
                    </a:p>
                  </a:txBody>
                </a:tc>
              </a:tr>
              <a:tr h="0">
                <a:tc>
                  <a:txBody>
                    <a:bodyPr/>
                    <a:lstStyle/>
                    <a:p>
                      <a:pPr lvl="0" indent="0" marL="0">
                        <a:buNone/>
                      </a:pPr>
                      <a:r>
                        <a:rPr/>
                        <a:t>Pain Points</a:t>
                      </a:r>
                    </a:p>
                  </a:txBody>
                </a:tc>
                <a:tc>
                  <a:txBody>
                    <a:bodyPr/>
                    <a:lstStyle/>
                    <a:p>
                      <a:pPr lvl="0" indent="0" marL="0">
                        <a:buNone/>
                      </a:pPr>
                      <a:r>
                        <a:rPr/>
                        <a:t>25%</a:t>
                      </a:r>
                    </a:p>
                  </a:txBody>
                </a:tc>
                <a:tc>
                  <a:txBody>
                    <a:bodyPr/>
                    <a:lstStyle/>
                    <a:p>
                      <a:pPr lvl="0" indent="0" marL="0">
                        <a:buNone/>
                      </a:pPr>
                      <a:r>
                        <a:rPr/>
                        <a:t>Identified website/brand weaknesses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Output:</a:t>
            </a:r>
            <a:r>
              <a:rPr/>
              <a:t> </a:t>
            </a:r>
            <a:r>
              <a:rPr>
                <a:latin typeface="Courier"/>
              </a:rPr>
              <a:t>LeadReport</a:t>
            </a:r>
            <a:r>
              <a:rPr/>
              <a:t> with top 20 prospects, each containing: - Company name, website, industry, location - Employee count and revenue band - Business maturity (Startup / Growth / Enterprise / Legacy) - SEO score (0-100), Design score (0-100), Lead score (0-100) - Score breakdown rationale - Identified pain points - Personalized redesign pitch</a:t>
            </a:r>
          </a:p>
          <a:p>
            <a:pPr lvl="0" indent="0" marL="0">
              <a:spcBef>
                <a:spcPts val="3000"/>
              </a:spcBef>
              <a:buNone/>
            </a:pPr>
            <a:r>
              <a:rPr b="1"/>
              <a:t>4.4 Effectiveness Metrics</a:t>
            </a:r>
          </a:p>
          <a:p>
            <a:pPr lvl="0" indent="0" marL="0">
              <a:buNone/>
            </a:pPr>
            <a:r>
              <a:rPr/>
              <a:t>The QA agent measures redesign effectiveness through:</a:t>
            </a:r>
          </a:p>
          <a:p>
            <a:pPr lvl="0"/>
            <a:r>
              <a:rPr b="1"/>
              <a:t>Build success:</a:t>
            </a:r>
            <a:r>
              <a:rPr/>
              <a:t> </a:t>
            </a:r>
            <a:r>
              <a:rPr>
                <a:latin typeface="Courier"/>
              </a:rPr>
              <a:t>npm run build</a:t>
            </a:r>
            <a:r>
              <a:rPr/>
              <a:t> passes without errors</a:t>
            </a:r>
          </a:p>
          <a:p>
            <a:pPr lvl="0"/>
            <a:r>
              <a:rPr b="1"/>
              <a:t>Performance budget:</a:t>
            </a:r>
            <a:r>
              <a:rPr/>
              <a:t> Animation frames stay under 16ms</a:t>
            </a:r>
          </a:p>
          <a:p>
            <a:pPr lvl="0"/>
            <a:r>
              <a:rPr b="1"/>
              <a:t>Accessibility compliance:</a:t>
            </a:r>
            <a:r>
              <a:rPr/>
              <a:t> WCAG 2.1 AA targets</a:t>
            </a:r>
          </a:p>
          <a:p>
            <a:pPr lvl="0"/>
            <a:r>
              <a:rPr b="1"/>
              <a:t>SEO preservation/maintenance:</a:t>
            </a:r>
            <a:r>
              <a:rPr/>
              <a:t> Meta tags, headings, schema maintained</a:t>
            </a:r>
          </a:p>
          <a:p>
            <a:pPr lvl="0"/>
            <a:r>
              <a:rPr b="1"/>
              <a:t>Animation quality:</a:t>
            </a:r>
            <a:r>
              <a:rPr/>
              <a:t> Scroll-scrubbed narrative, stagger timing, custom easing</a:t>
            </a:r>
          </a:p>
          <a:p>
            <a:pPr lvl="0"/>
            <a:r>
              <a:rPr b="1"/>
              <a:t>Design consistency:</a:t>
            </a:r>
            <a:r>
              <a:rPr/>
              <a:t> Token adherence, component reuse, style mode compliance</a:t>
            </a:r>
          </a:p>
          <a:p>
            <a:pPr lvl="0"/>
            <a:r>
              <a:rPr b="1"/>
              <a:t>Generic SaaS tell detection:</a:t>
            </a:r>
            <a:r>
              <a:rPr/>
              <a:t> Flags templated patterns (centered hero + rounded cards + blue-purple gradient)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 Cost Margins</a:t>
            </a:r>
          </a:p>
          <a:p>
            <a:pPr lvl="0" indent="0" marL="0">
              <a:spcBef>
                <a:spcPts val="3000"/>
              </a:spcBef>
              <a:buNone/>
            </a:pPr>
            <a:r>
              <a:rPr b="1"/>
              <a:t>5.1 Per-Website Cost Breakdown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473200"/>
                <a:gridCol w="1206500"/>
                <a:gridCol w="2413000"/>
              </a:tblGrid>
              <a:tr h="0">
                <a:tc>
                  <a:txBody>
                    <a:bodyPr/>
                    <a:lstStyle/>
                    <a:p>
                      <a:pPr lvl="0" indent="0" marL="0">
                        <a:buNone/>
                      </a:pPr>
                      <a:r>
                        <a:rPr/>
                        <a:t>Component</a:t>
                      </a:r>
                    </a:p>
                  </a:txBody>
                  <a:tcPr/>
                </a:tc>
                <a:tc>
                  <a:txBody>
                    <a:bodyPr/>
                    <a:lstStyle/>
                    <a:p>
                      <a:pPr lvl="0" indent="0" marL="0">
                        <a:buNone/>
                      </a:pPr>
                      <a:r>
                        <a:rPr/>
                        <a:t>Service</a:t>
                      </a:r>
                    </a:p>
                  </a:txBody>
                  <a:tcPr/>
                </a:tc>
                <a:tc>
                  <a:txBody>
                    <a:bodyPr/>
                    <a:lstStyle/>
                    <a:p>
                      <a:pPr lvl="0" indent="0" marL="0">
                        <a:buNone/>
                      </a:pPr>
                      <a:r>
                        <a:rPr/>
                        <a:t>Cost Per Website</a:t>
                      </a:r>
                    </a:p>
                  </a:txBody>
                  <a:tcPr/>
                </a:tc>
              </a:tr>
              <a:tr h="0">
                <a:tc>
                  <a:txBody>
                    <a:bodyPr/>
                    <a:lstStyle/>
                    <a:p>
                      <a:pPr lvl="0" indent="0" marL="0">
                        <a:buNone/>
                      </a:pPr>
                      <a:r>
                        <a:rPr b="1"/>
                        <a:t>LLM (Primary)</a:t>
                      </a:r>
                    </a:p>
                  </a:txBody>
                </a:tc>
                <a:tc>
                  <a:txBody>
                    <a:bodyPr/>
                    <a:lstStyle/>
                    <a:p>
                      <a:pPr lvl="0" indent="0" marL="0">
                        <a:buNone/>
                      </a:pPr>
                      <a:r>
                        <a:rPr/>
                        <a:t>Claude Sonnet 5 (UX/UI/Motion/Engineering)</a:t>
                      </a:r>
                    </a:p>
                  </a:txBody>
                </a:tc>
                <a:tc>
                  <a:txBody>
                    <a:bodyPr/>
                    <a:lstStyle/>
                    <a:p>
                      <a:pPr lvl="0" indent="0" marL="0">
                        <a:buNone/>
                      </a:pPr>
                      <a:r>
                        <a:rPr/>
                        <a:t>$0.40–$0.80</a:t>
                      </a:r>
                    </a:p>
                  </a:txBody>
                </a:tc>
              </a:tr>
              <a:tr h="0">
                <a:tc>
                  <a:txBody>
                    <a:bodyPr/>
                    <a:lstStyle/>
                    <a:p>
                      <a:pPr lvl="0" indent="0" marL="0">
                        <a:buNone/>
                      </a:pPr>
                      <a:r>
                        <a:rPr b="1"/>
                        <a:t>LLM (Secondary)</a:t>
                      </a:r>
                    </a:p>
                  </a:txBody>
                </a:tc>
                <a:tc>
                  <a:txBody>
                    <a:bodyPr/>
                    <a:lstStyle/>
                    <a:p>
                      <a:pPr lvl="0" indent="0" marL="0">
                        <a:buNone/>
                      </a:pPr>
                      <a:r>
                        <a:rPr/>
                        <a:t>Claude Haiku 4.5 (SEO/Brand/QA)</a:t>
                      </a:r>
                    </a:p>
                  </a:txBody>
                </a:tc>
                <a:tc>
                  <a:txBody>
                    <a:bodyPr/>
                    <a:lstStyle/>
                    <a:p>
                      <a:pPr lvl="0" indent="0" marL="0">
                        <a:buNone/>
                      </a:pPr>
                      <a:r>
                        <a:rPr/>
                        <a:t>$0.05–$0.10</a:t>
                      </a:r>
                    </a:p>
                  </a:txBody>
                </a:tc>
              </a:tr>
              <a:tr h="0">
                <a:tc>
                  <a:txBody>
                    <a:bodyPr/>
                    <a:lstStyle/>
                    <a:p>
                      <a:pPr lvl="0" indent="0" marL="0">
                        <a:buNone/>
                      </a:pPr>
                      <a:r>
                        <a:rPr b="1"/>
                        <a:t>LLM (Creative)</a:t>
                      </a:r>
                    </a:p>
                  </a:txBody>
                </a:tc>
                <a:tc>
                  <a:txBody>
                    <a:bodyPr/>
                    <a:lstStyle/>
                    <a:p>
                      <a:pPr lvl="0" indent="0" marL="0">
                        <a:buNone/>
                      </a:pPr>
                      <a:r>
                        <a:rPr/>
                        <a:t>Claude Opus 4.8 (Creative Director)</a:t>
                      </a:r>
                    </a:p>
                  </a:txBody>
                </a:tc>
                <a:tc>
                  <a:txBody>
                    <a:bodyPr/>
                    <a:lstStyle/>
                    <a:p>
                      <a:pPr lvl="0" indent="0" marL="0">
                        <a:buNone/>
                      </a:pPr>
                      <a:r>
                        <a:rPr/>
                        <a:t>$0.15–$0.30</a:t>
                      </a:r>
                    </a:p>
                  </a:txBody>
                </a:tc>
              </a:tr>
              <a:tr h="0">
                <a:tc>
                  <a:txBody>
                    <a:bodyPr/>
                    <a:lstStyle/>
                    <a:p>
                      <a:pPr lvl="0" indent="0" marL="0">
                        <a:buNone/>
                      </a:pPr>
                      <a:r>
                        <a:rPr b="1"/>
                        <a:t>Vision</a:t>
                      </a:r>
                    </a:p>
                  </a:txBody>
                </a:tc>
                <a:tc>
                  <a:txBody>
                    <a:bodyPr/>
                    <a:lstStyle/>
                    <a:p>
                      <a:pPr lvl="0" indent="0" marL="0">
                        <a:buNone/>
                      </a:pPr>
                      <a:r>
                        <a:rPr/>
                        <a:t>Claude Sonnet 5 (built-in)</a:t>
                      </a:r>
                    </a:p>
                  </a:txBody>
                </a:tc>
                <a:tc>
                  <a:txBody>
                    <a:bodyPr/>
                    <a:lstStyle/>
                    <a:p>
                      <a:pPr lvl="0" indent="0" marL="0">
                        <a:buNone/>
                      </a:pPr>
                      <a:r>
                        <a:rPr/>
                        <a:t>Included</a:t>
                      </a:r>
                    </a:p>
                  </a:txBody>
                </a:tc>
              </a:tr>
              <a:tr h="0">
                <a:tc>
                  <a:txBody>
                    <a:bodyPr/>
                    <a:lstStyle/>
                    <a:p>
                      <a:pPr lvl="0" indent="0" marL="0">
                        <a:buNone/>
                      </a:pPr>
                      <a:r>
                        <a:rPr b="1"/>
                        <a:t>Search</a:t>
                      </a:r>
                    </a:p>
                  </a:txBody>
                </a:tc>
                <a:tc>
                  <a:txBody>
                    <a:bodyPr/>
                    <a:lstStyle/>
                    <a:p>
                      <a:pPr lvl="0" indent="0" marL="0">
                        <a:buNone/>
                      </a:pPr>
                      <a:r>
                        <a:rPr/>
                        <a:t>Tavily (free tier or $30/mo)</a:t>
                      </a:r>
                    </a:p>
                  </a:txBody>
                </a:tc>
                <a:tc>
                  <a:txBody>
                    <a:bodyPr/>
                    <a:lstStyle/>
                    <a:p>
                      <a:pPr lvl="0" indent="0" marL="0">
                        <a:buNone/>
                      </a:pPr>
                      <a:r>
                        <a:rPr/>
                        <a:t>$0.00–$0.05</a:t>
                      </a:r>
                    </a:p>
                  </a:txBody>
                </a:tc>
              </a:tr>
              <a:tr h="0">
                <a:tc>
                  <a:txBody>
                    <a:bodyPr/>
                    <a:lstStyle/>
                    <a:p>
                      <a:pPr lvl="0" indent="0" marL="0">
                        <a:buNone/>
                      </a:pPr>
                      <a:r>
                        <a:rPr b="1"/>
                        <a:t>Crawling</a:t>
                      </a:r>
                    </a:p>
                  </a:txBody>
                </a:tc>
                <a:tc>
                  <a:txBody>
                    <a:bodyPr/>
                    <a:lstStyle/>
                    <a:p>
                      <a:pPr lvl="0" indent="0" marL="0">
                        <a:buNone/>
                      </a:pPr>
                      <a:r>
                        <a:rPr/>
                        <a:t>Playwright + httpx</a:t>
                      </a:r>
                    </a:p>
                  </a:txBody>
                </a:tc>
                <a:tc>
                  <a:txBody>
                    <a:bodyPr/>
                    <a:lstStyle/>
                    <a:p>
                      <a:pPr lvl="0" indent="0" marL="0">
                        <a:buNone/>
                      </a:pPr>
                      <a:r>
                        <a:rPr/>
                        <a:t>Free</a:t>
                      </a:r>
                    </a:p>
                  </a:txBody>
                </a:tc>
              </a:tr>
              <a:tr h="0">
                <a:tc>
                  <a:txBody>
                    <a:bodyPr/>
                    <a:lstStyle/>
                    <a:p>
                      <a:pPr lvl="0" indent="0" marL="0">
                        <a:buNone/>
                      </a:pPr>
                      <a:r>
                        <a:rPr b="1"/>
                        <a:t>Lighthouse</a:t>
                      </a:r>
                    </a:p>
                  </a:txBody>
                </a:tc>
                <a:tc>
                  <a:txBody>
                    <a:bodyPr/>
                    <a:lstStyle/>
                    <a:p>
                      <a:pPr lvl="0" indent="0" marL="0">
                        <a:buNone/>
                      </a:pPr>
                      <a:r>
                        <a:rPr/>
                        <a:t>CLI</a:t>
                      </a:r>
                    </a:p>
                  </a:txBody>
                </a:tc>
                <a:tc>
                  <a:txBody>
                    <a:bodyPr/>
                    <a:lstStyle/>
                    <a:p>
                      <a:pPr lvl="0" indent="0" marL="0">
                        <a:buNone/>
                      </a:pPr>
                      <a:r>
                        <a:rPr/>
                        <a:t>Free</a:t>
                      </a:r>
                    </a:p>
                  </a:txBody>
                </a:tc>
              </a:tr>
              <a:tr h="0">
                <a:tc>
                  <a:txBody>
                    <a:bodyPr/>
                    <a:lstStyle/>
                    <a:p>
                      <a:pPr lvl="0" indent="0" marL="0">
                        <a:buNone/>
                      </a:pPr>
                      <a:r>
                        <a:rPr b="1"/>
                        <a:t>Infrastructure</a:t>
                      </a:r>
                    </a:p>
                  </a:txBody>
                </a:tc>
                <a:tc>
                  <a:txBody>
                    <a:bodyPr/>
                    <a:lstStyle/>
                    <a:p>
                      <a:pPr lvl="0" indent="0" marL="0">
                        <a:buNone/>
                      </a:pPr>
                      <a:r>
                        <a:rPr/>
                        <a:t>Docker + Postgres + Redis</a:t>
                      </a:r>
                    </a:p>
                  </a:txBody>
                </a:tc>
                <a:tc>
                  <a:txBody>
                    <a:bodyPr/>
                    <a:lstStyle/>
                    <a:p>
                      <a:pPr lvl="0" indent="0" marL="0">
                        <a:buNone/>
                      </a:pPr>
                      <a:r>
                        <a:rPr/>
                        <a:t>$12/mo shared</a:t>
                      </a:r>
                    </a:p>
                  </a:txBody>
                </a:tc>
              </a:tr>
              <a:tr h="0">
                <a:tc>
                  <a:txBody>
                    <a:bodyPr/>
                    <a:lstStyle/>
                    <a:p>
                      <a:pPr lvl="0" indent="0" marL="0">
                        <a:buNone/>
                      </a:pPr>
                      <a:r>
                        <a:rPr b="1"/>
                        <a:t>Hosting</a:t>
                      </a:r>
                    </a:p>
                  </a:txBody>
                </a:tc>
                <a:tc>
                  <a:txBody>
                    <a:bodyPr/>
                    <a:lstStyle/>
                    <a:p>
                      <a:pPr lvl="0" indent="0" marL="0">
                        <a:buNone/>
                      </a:pPr>
                      <a:r>
                        <a:rPr/>
                        <a:t>Vercel / Netlify preview</a:t>
                      </a:r>
                    </a:p>
                  </a:txBody>
                </a:tc>
                <a:tc>
                  <a:txBody>
                    <a:bodyPr/>
                    <a:lstStyle/>
                    <a:p>
                      <a:pPr lvl="0" indent="0" marL="0">
                        <a:buNone/>
                      </a:pPr>
                      <a:r>
                        <a:rPr/>
                        <a:t>Free tier</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Total per website: $0.60–$1.30 in API costs</a:t>
            </a:r>
          </a:p>
          <a:p>
            <a:pPr lvl="0" indent="0" marL="0">
              <a:spcBef>
                <a:spcPts val="3000"/>
              </a:spcBef>
              <a:buNone/>
            </a:pPr>
            <a:r>
              <a:rPr b="1"/>
              <a:t>5.2 Monthly Cost by Volume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Monthly Volume</a:t>
                      </a:r>
                    </a:p>
                  </a:txBody>
                  <a:tcPr/>
                </a:tc>
                <a:tc>
                  <a:txBody>
                    <a:bodyPr/>
                    <a:lstStyle/>
                    <a:p>
                      <a:pPr lvl="0" indent="0" marL="0">
                        <a:buNone/>
                      </a:pPr>
                      <a:r>
                        <a:rPr/>
                        <a:t>API Cost</a:t>
                      </a:r>
                    </a:p>
                  </a:txBody>
                  <a:tcPr/>
                </a:tc>
                <a:tc>
                  <a:txBody>
                    <a:bodyPr/>
                    <a:lstStyle/>
                    <a:p>
                      <a:pPr lvl="0" indent="0" marL="0">
                        <a:buNone/>
                      </a:pPr>
                      <a:r>
                        <a:rPr/>
                        <a:t>Infrastructure</a:t>
                      </a:r>
                    </a:p>
                  </a:txBody>
                  <a:tcPr/>
                </a:tc>
                <a:tc>
                  <a:txBody>
                    <a:bodyPr/>
                    <a:lstStyle/>
                    <a:p>
                      <a:pPr lvl="0" indent="0" marL="0">
                        <a:buNone/>
                      </a:pPr>
                      <a:r>
                        <a:rPr/>
                        <a:t>Total Monthly</a:t>
                      </a:r>
                    </a:p>
                  </a:txBody>
                  <a:tcPr/>
                </a:tc>
              </a:tr>
              <a:tr h="0">
                <a:tc>
                  <a:txBody>
                    <a:bodyPr/>
                    <a:lstStyle/>
                    <a:p>
                      <a:pPr lvl="0" indent="0" marL="0">
                        <a:buNone/>
                      </a:pPr>
                      <a:r>
                        <a:rPr b="1"/>
                        <a:t>1 website</a:t>
                      </a:r>
                    </a:p>
                  </a:txBody>
                </a:tc>
                <a:tc>
                  <a:txBody>
                    <a:bodyPr/>
                    <a:lstStyle/>
                    <a:p>
                      <a:pPr lvl="0" indent="0" marL="0">
                        <a:buNone/>
                      </a:pPr>
                      <a:r>
                        <a:rPr/>
                        <a:t>$1.00</a:t>
                      </a:r>
                    </a:p>
                  </a:txBody>
                </a:tc>
                <a:tc>
                  <a:txBody>
                    <a:bodyPr/>
                    <a:lstStyle/>
                    <a:p>
                      <a:pPr lvl="0" indent="0" marL="0">
                        <a:buNone/>
                      </a:pPr>
                      <a:r>
                        <a:rPr/>
                        <a:t>$12</a:t>
                      </a:r>
                    </a:p>
                  </a:txBody>
                </a:tc>
                <a:tc>
                  <a:txBody>
                    <a:bodyPr/>
                    <a:lstStyle/>
                    <a:p>
                      <a:pPr lvl="0" indent="0" marL="0">
                        <a:buNone/>
                      </a:pPr>
                      <a:r>
                        <a:rPr/>
                        <a:t>$13</a:t>
                      </a:r>
                    </a:p>
                  </a:txBody>
                </a:tc>
              </a:tr>
              <a:tr h="0">
                <a:tc>
                  <a:txBody>
                    <a:bodyPr/>
                    <a:lstStyle/>
                    <a:p>
                      <a:pPr lvl="0" indent="0" marL="0">
                        <a:buNone/>
                      </a:pPr>
                      <a:r>
                        <a:rPr b="1"/>
                        <a:t>5 websites</a:t>
                      </a:r>
                    </a:p>
                  </a:txBody>
                </a:tc>
                <a:tc>
                  <a:txBody>
                    <a:bodyPr/>
                    <a:lstStyle/>
                    <a:p>
                      <a:pPr lvl="0" indent="0" marL="0">
                        <a:buNone/>
                      </a:pPr>
                      <a:r>
                        <a:rPr/>
                        <a:t>$5.00</a:t>
                      </a:r>
                    </a:p>
                  </a:txBody>
                </a:tc>
                <a:tc>
                  <a:txBody>
                    <a:bodyPr/>
                    <a:lstStyle/>
                    <a:p>
                      <a:pPr lvl="0" indent="0" marL="0">
                        <a:buNone/>
                      </a:pPr>
                      <a:r>
                        <a:rPr/>
                        <a:t>$12</a:t>
                      </a:r>
                    </a:p>
                  </a:txBody>
                </a:tc>
                <a:tc>
                  <a:txBody>
                    <a:bodyPr/>
                    <a:lstStyle/>
                    <a:p>
                      <a:pPr lvl="0" indent="0" marL="0">
                        <a:buNone/>
                      </a:pPr>
                      <a:r>
                        <a:rPr/>
                        <a:t>$17</a:t>
                      </a:r>
                    </a:p>
                  </a:txBody>
                </a:tc>
              </a:tr>
              <a:tr h="0">
                <a:tc>
                  <a:txBody>
                    <a:bodyPr/>
                    <a:lstStyle/>
                    <a:p>
                      <a:pPr lvl="0" indent="0" marL="0">
                        <a:buNone/>
                      </a:pPr>
                      <a:r>
                        <a:rPr b="1"/>
                        <a:t>10 websites</a:t>
                      </a:r>
                    </a:p>
                  </a:txBody>
                </a:tc>
                <a:tc>
                  <a:txBody>
                    <a:bodyPr/>
                    <a:lstStyle/>
                    <a:p>
                      <a:pPr lvl="0" indent="0" marL="0">
                        <a:buNone/>
                      </a:pPr>
                      <a:r>
                        <a:rPr/>
                        <a:t>$10.00</a:t>
                      </a:r>
                    </a:p>
                  </a:txBody>
                </a:tc>
                <a:tc>
                  <a:txBody>
                    <a:bodyPr/>
                    <a:lstStyle/>
                    <a:p>
                      <a:pPr lvl="0" indent="0" marL="0">
                        <a:buNone/>
                      </a:pPr>
                      <a:r>
                        <a:rPr/>
                        <a:t>$12</a:t>
                      </a:r>
                    </a:p>
                  </a:txBody>
                </a:tc>
                <a:tc>
                  <a:txBody>
                    <a:bodyPr/>
                    <a:lstStyle/>
                    <a:p>
                      <a:pPr lvl="0" indent="0" marL="0">
                        <a:buNone/>
                      </a:pPr>
                      <a:r>
                        <a:rPr/>
                        <a:t>$22</a:t>
                      </a:r>
                    </a:p>
                  </a:txBody>
                </a:tc>
              </a:tr>
              <a:tr h="0">
                <a:tc>
                  <a:txBody>
                    <a:bodyPr/>
                    <a:lstStyle/>
                    <a:p>
                      <a:pPr lvl="0" indent="0" marL="0">
                        <a:buNone/>
                      </a:pPr>
                      <a:r>
                        <a:rPr b="1"/>
                        <a:t>20 websites</a:t>
                      </a:r>
                    </a:p>
                  </a:txBody>
                </a:tc>
                <a:tc>
                  <a:txBody>
                    <a:bodyPr/>
                    <a:lstStyle/>
                    <a:p>
                      <a:pPr lvl="0" indent="0" marL="0">
                        <a:buNone/>
                      </a:pPr>
                      <a:r>
                        <a:rPr/>
                        <a:t>$20.00</a:t>
                      </a:r>
                    </a:p>
                  </a:txBody>
                </a:tc>
                <a:tc>
                  <a:txBody>
                    <a:bodyPr/>
                    <a:lstStyle/>
                    <a:p>
                      <a:pPr lvl="0" indent="0" marL="0">
                        <a:buNone/>
                      </a:pPr>
                      <a:r>
                        <a:rPr/>
                        <a:t>$25</a:t>
                      </a:r>
                    </a:p>
                  </a:txBody>
                </a:tc>
                <a:tc>
                  <a:txBody>
                    <a:bodyPr/>
                    <a:lstStyle/>
                    <a:p>
                      <a:pPr lvl="0" indent="0" marL="0">
                        <a:buNone/>
                      </a:pPr>
                      <a:r>
                        <a:rPr/>
                        <a:t>$45</a:t>
                      </a:r>
                    </a:p>
                  </a:txBody>
                </a:tc>
              </a:tr>
              <a:tr h="0">
                <a:tc>
                  <a:txBody>
                    <a:bodyPr/>
                    <a:lstStyle/>
                    <a:p>
                      <a:pPr lvl="0" indent="0" marL="0">
                        <a:buNone/>
                      </a:pPr>
                      <a:r>
                        <a:rPr b="1"/>
                        <a:t>50 websites</a:t>
                      </a:r>
                    </a:p>
                  </a:txBody>
                </a:tc>
                <a:tc>
                  <a:txBody>
                    <a:bodyPr/>
                    <a:lstStyle/>
                    <a:p>
                      <a:pPr lvl="0" indent="0" marL="0">
                        <a:buNone/>
                      </a:pPr>
                      <a:r>
                        <a:rPr/>
                        <a:t>$50.00</a:t>
                      </a:r>
                    </a:p>
                  </a:txBody>
                </a:tc>
                <a:tc>
                  <a:txBody>
                    <a:bodyPr/>
                    <a:lstStyle/>
                    <a:p>
                      <a:pPr lvl="0" indent="0" marL="0">
                        <a:buNone/>
                      </a:pPr>
                      <a:r>
                        <a:rPr/>
                        <a:t>$50</a:t>
                      </a:r>
                    </a:p>
                  </a:txBody>
                </a:tc>
                <a:tc>
                  <a:txBody>
                    <a:bodyPr/>
                    <a:lstStyle/>
                    <a:p>
                      <a:pPr lvl="0" indent="0" marL="0">
                        <a:buNone/>
                      </a:pPr>
                      <a:r>
                        <a:rPr/>
                        <a:t>$100</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5.3 Cost Tiers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84200"/>
                <a:gridCol w="1257300"/>
                <a:gridCol w="1447800"/>
                <a:gridCol w="863600"/>
                <a:gridCol w="965200"/>
              </a:tblGrid>
              <a:tr h="0">
                <a:tc>
                  <a:txBody>
                    <a:bodyPr/>
                    <a:lstStyle/>
                    <a:p>
                      <a:pPr lvl="0" indent="0" marL="0">
                        <a:buNone/>
                      </a:pPr>
                      <a:r>
                        <a:rPr/>
                        <a:t>Tier</a:t>
                      </a:r>
                    </a:p>
                  </a:txBody>
                  <a:tcPr/>
                </a:tc>
                <a:tc>
                  <a:txBody>
                    <a:bodyPr/>
                    <a:lstStyle/>
                    <a:p>
                      <a:pPr lvl="0" indent="0" marL="0">
                        <a:buNone/>
                      </a:pPr>
                      <a:r>
                        <a:rPr/>
                        <a:t>Model Setup</a:t>
                      </a:r>
                    </a:p>
                  </a:txBody>
                  <a:tcPr/>
                </a:tc>
                <a:tc>
                  <a:txBody>
                    <a:bodyPr/>
                    <a:lstStyle/>
                    <a:p>
                      <a:pPr lvl="0" indent="0" marL="0">
                        <a:buNone/>
                      </a:pPr>
                      <a:r>
                        <a:rPr/>
                        <a:t>Cost Per Site</a:t>
                      </a:r>
                    </a:p>
                  </a:txBody>
                  <a:tcPr/>
                </a:tc>
                <a:tc>
                  <a:txBody>
                    <a:bodyPr/>
                    <a:lstStyle/>
                    <a:p>
                      <a:pPr lvl="0" indent="0" marL="0">
                        <a:buNone/>
                      </a:pPr>
                      <a:r>
                        <a:rPr/>
                        <a:t>Quality</a:t>
                      </a:r>
                    </a:p>
                  </a:txBody>
                  <a:tcPr/>
                </a:tc>
                <a:tc>
                  <a:txBody>
                    <a:bodyPr/>
                    <a:lstStyle/>
                    <a:p>
                      <a:pPr lvl="0" indent="0" marL="0">
                        <a:buNone/>
                      </a:pPr>
                      <a:r>
                        <a:rPr/>
                        <a:t>Best For</a:t>
                      </a:r>
                    </a:p>
                  </a:txBody>
                  <a:tcPr/>
                </a:tc>
              </a:tr>
              <a:tr h="0">
                <a:tc>
                  <a:txBody>
                    <a:bodyPr/>
                    <a:lstStyle/>
                    <a:p>
                      <a:pPr lvl="0" indent="0" marL="0">
                        <a:buNone/>
                      </a:pPr>
                      <a:r>
                        <a:rPr b="1"/>
                        <a:t>Free / Simulation</a:t>
                      </a:r>
                    </a:p>
                  </a:txBody>
                </a:tc>
                <a:tc>
                  <a:txBody>
                    <a:bodyPr/>
                    <a:lstStyle/>
                    <a:p>
                      <a:pPr lvl="0" indent="0" marL="0">
                        <a:buNone/>
                      </a:pPr>
                      <a:r>
                        <a:rPr/>
                        <a:t>Groq Llama 3.3 70B</a:t>
                      </a:r>
                    </a:p>
                  </a:txBody>
                </a:tc>
                <a:tc>
                  <a:txBody>
                    <a:bodyPr/>
                    <a:lstStyle/>
                    <a:p>
                      <a:pPr lvl="0" indent="0" marL="0">
                        <a:buNone/>
                      </a:pPr>
                      <a:r>
                        <a:rPr/>
                        <a:t>$0.00</a:t>
                      </a:r>
                    </a:p>
                  </a:txBody>
                </a:tc>
                <a:tc>
                  <a:txBody>
                    <a:bodyPr/>
                    <a:lstStyle/>
                    <a:p>
                      <a:pPr lvl="0" indent="0" marL="0">
                        <a:buNone/>
                      </a:pPr>
                      <a:r>
                        <a:rPr/>
                        <a:t>5/10</a:t>
                      </a:r>
                    </a:p>
                  </a:txBody>
                </a:tc>
                <a:tc>
                  <a:txBody>
                    <a:bodyPr/>
                    <a:lstStyle/>
                    <a:p>
                      <a:pPr lvl="0" indent="0" marL="0">
                        <a:buNone/>
                      </a:pPr>
                      <a:r>
                        <a:rPr/>
                        <a:t>Prototyping, offline testing</a:t>
                      </a:r>
                    </a:p>
                  </a:txBody>
                </a:tc>
              </a:tr>
              <a:tr h="0">
                <a:tc>
                  <a:txBody>
                    <a:bodyPr/>
                    <a:lstStyle/>
                    <a:p>
                      <a:pPr lvl="0" indent="0" marL="0">
                        <a:buNone/>
                      </a:pPr>
                      <a:r>
                        <a:rPr b="1"/>
                        <a:t>Budget</a:t>
                      </a:r>
                    </a:p>
                  </a:txBody>
                </a:tc>
                <a:tc>
                  <a:txBody>
                    <a:bodyPr/>
                    <a:lstStyle/>
                    <a:p>
                      <a:pPr lvl="0" indent="0" marL="0">
                        <a:buNone/>
                      </a:pPr>
                      <a:r>
                        <a:rPr/>
                        <a:t>Gemini 2.0 Flash + Haiku 4.5</a:t>
                      </a:r>
                    </a:p>
                  </a:txBody>
                </a:tc>
                <a:tc>
                  <a:txBody>
                    <a:bodyPr/>
                    <a:lstStyle/>
                    <a:p>
                      <a:pPr lvl="0" indent="0" marL="0">
                        <a:buNone/>
                      </a:pPr>
                      <a:r>
                        <a:rPr/>
                        <a:t>$0.10–$0.30</a:t>
                      </a:r>
                    </a:p>
                  </a:txBody>
                </a:tc>
                <a:tc>
                  <a:txBody>
                    <a:bodyPr/>
                    <a:lstStyle/>
                    <a:p>
                      <a:pPr lvl="0" indent="0" marL="0">
                        <a:buNone/>
                      </a:pPr>
                      <a:r>
                        <a:rPr/>
                        <a:t>6/10</a:t>
                      </a:r>
                    </a:p>
                  </a:txBody>
                </a:tc>
                <a:tc>
                  <a:txBody>
                    <a:bodyPr/>
                    <a:lstStyle/>
                    <a:p>
                      <a:pPr lvl="0" indent="0" marL="0">
                        <a:buNone/>
                      </a:pPr>
                      <a:r>
                        <a:rPr/>
                        <a:t>Drafts, internal mockups</a:t>
                      </a:r>
                    </a:p>
                  </a:txBody>
                </a:tc>
              </a:tr>
              <a:tr h="0">
                <a:tc>
                  <a:txBody>
                    <a:bodyPr/>
                    <a:lstStyle/>
                    <a:p>
                      <a:pPr lvl="0" indent="0" marL="0">
                        <a:buNone/>
                      </a:pPr>
                      <a:r>
                        <a:rPr b="1"/>
                        <a:t>Standard (Recommended)</a:t>
                      </a:r>
                    </a:p>
                  </a:txBody>
                </a:tc>
                <a:tc>
                  <a:txBody>
                    <a:bodyPr/>
                    <a:lstStyle/>
                    <a:p>
                      <a:pPr lvl="0" indent="0" marL="0">
                        <a:buNone/>
                      </a:pPr>
                      <a:r>
                        <a:rPr/>
                        <a:t>Sonnet 5 + Haiku 4.5</a:t>
                      </a:r>
                    </a:p>
                  </a:txBody>
                </a:tc>
                <a:tc>
                  <a:txBody>
                    <a:bodyPr/>
                    <a:lstStyle/>
                    <a:p>
                      <a:pPr lvl="0" indent="0" marL="0">
                        <a:buNone/>
                      </a:pPr>
                      <a:r>
                        <a:rPr/>
                        <a:t>$0.60–$1.30</a:t>
                      </a:r>
                    </a:p>
                  </a:txBody>
                </a:tc>
                <a:tc>
                  <a:txBody>
                    <a:bodyPr/>
                    <a:lstStyle/>
                    <a:p>
                      <a:pPr lvl="0" indent="0" marL="0">
                        <a:buNone/>
                      </a:pPr>
                      <a:r>
                        <a:rPr/>
                        <a:t>8/10</a:t>
                      </a:r>
                    </a:p>
                  </a:txBody>
                </a:tc>
                <a:tc>
                  <a:txBody>
                    <a:bodyPr/>
                    <a:lstStyle/>
                    <a:p>
                      <a:pPr lvl="0" indent="0" marL="0">
                        <a:buNone/>
                      </a:pPr>
                      <a:r>
                        <a:rPr/>
                        <a:t>Client deliveries</a:t>
                      </a:r>
                    </a:p>
                  </a:txBody>
                </a:tc>
              </a:tr>
              <a:tr h="0">
                <a:tc>
                  <a:txBody>
                    <a:bodyPr/>
                    <a:lstStyle/>
                    <a:p>
                      <a:pPr lvl="0" indent="0" marL="0">
                        <a:buNone/>
                      </a:pPr>
                      <a:r>
                        <a:rPr b="1"/>
                        <a:t>Premium</a:t>
                      </a:r>
                    </a:p>
                  </a:txBody>
                </a:tc>
                <a:tc>
                  <a:txBody>
                    <a:bodyPr/>
                    <a:lstStyle/>
                    <a:p>
                      <a:pPr lvl="0" indent="0" marL="0">
                        <a:buNone/>
                      </a:pPr>
                      <a:r>
                        <a:rPr/>
                        <a:t>Sonnet 5 + Haiku 4.5 + Opus 4.8</a:t>
                      </a:r>
                    </a:p>
                  </a:txBody>
                </a:tc>
                <a:tc>
                  <a:txBody>
                    <a:bodyPr/>
                    <a:lstStyle/>
                    <a:p>
                      <a:pPr lvl="0" indent="0" marL="0">
                        <a:buNone/>
                      </a:pPr>
                      <a:r>
                        <a:rPr/>
                        <a:t>$1.00–$1.80</a:t>
                      </a:r>
                    </a:p>
                  </a:txBody>
                </a:tc>
                <a:tc>
                  <a:txBody>
                    <a:bodyPr/>
                    <a:lstStyle/>
                    <a:p>
                      <a:pPr lvl="0" indent="0" marL="0">
                        <a:buNone/>
                      </a:pPr>
                      <a:r>
                        <a:rPr/>
                        <a:t>9/10</a:t>
                      </a:r>
                    </a:p>
                  </a:txBody>
                </a:tc>
                <a:tc>
                  <a:txBody>
                    <a:bodyPr/>
                    <a:lstStyle/>
                    <a:p>
                      <a:pPr lvl="0" indent="0" marL="0">
                        <a:buNone/>
                      </a:pPr>
                      <a:r>
                        <a:rPr/>
                        <a:t>Award-caliber work</a:t>
                      </a:r>
                    </a:p>
                  </a:txBody>
                </a:tc>
              </a:tr>
              <a:tr h="0">
                <a:tc>
                  <a:txBody>
                    <a:bodyPr/>
                    <a:lstStyle/>
                    <a:p>
                      <a:pPr lvl="0" indent="0" marL="0">
                        <a:buNone/>
                      </a:pPr>
                      <a:r>
                        <a:rPr b="1"/>
                        <a:t>Enterprise</a:t>
                      </a:r>
                    </a:p>
                  </a:txBody>
                </a:tc>
                <a:tc>
                  <a:txBody>
                    <a:bodyPr/>
                    <a:lstStyle/>
                    <a:p>
                      <a:pPr lvl="0" indent="0" marL="0">
                        <a:buNone/>
                      </a:pPr>
                      <a:r>
                        <a:rPr/>
                        <a:t>Opus 4.8 escalation + Sonnet 5 + Haiku 4.5</a:t>
                      </a:r>
                    </a:p>
                  </a:txBody>
                </a:tc>
                <a:tc>
                  <a:txBody>
                    <a:bodyPr/>
                    <a:lstStyle/>
                    <a:p>
                      <a:pPr lvl="0" indent="0" marL="0">
                        <a:buNone/>
                      </a:pPr>
                      <a:r>
                        <a:rPr/>
                        <a:t>$2.00–$4.00</a:t>
                      </a:r>
                    </a:p>
                  </a:txBody>
                </a:tc>
                <a:tc>
                  <a:txBody>
                    <a:bodyPr/>
                    <a:lstStyle/>
                    <a:p>
                      <a:pPr lvl="0" indent="0" marL="0">
                        <a:buNone/>
                      </a:pPr>
                      <a:r>
                        <a:rPr/>
                        <a:t>9.5/10</a:t>
                      </a:r>
                    </a:p>
                  </a:txBody>
                </a:tc>
                <a:tc>
                  <a:txBody>
                    <a:bodyPr/>
                    <a:lstStyle/>
                    <a:p>
                      <a:pPr lvl="0" indent="0" marL="0">
                        <a:buNone/>
                      </a:pPr>
                      <a:r>
                        <a:rPr/>
                        <a:t>High-stakes pitches</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5.4 Revenue Model</a:t>
            </a:r>
          </a:p>
          <a:p>
            <a:pPr lvl="0" indent="0" marL="0">
              <a:buNone/>
            </a:pPr>
            <a:r>
              <a:rPr/>
              <a:t>For a frontend development firm using this pipeline: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Service</a:t>
                      </a:r>
                    </a:p>
                  </a:txBody>
                  <a:tcPr/>
                </a:tc>
                <a:tc>
                  <a:txBody>
                    <a:bodyPr/>
                    <a:lstStyle/>
                    <a:p>
                      <a:pPr lvl="0" indent="0" marL="0">
                        <a:buNone/>
                      </a:pPr>
                      <a:r>
                        <a:rPr/>
                        <a:t>Client Price</a:t>
                      </a:r>
                    </a:p>
                  </a:txBody>
                  <a:tcPr/>
                </a:tc>
                <a:tc>
                  <a:txBody>
                    <a:bodyPr/>
                    <a:lstStyle/>
                    <a:p>
                      <a:pPr lvl="0" indent="0" marL="0">
                        <a:buNone/>
                      </a:pPr>
                      <a:r>
                        <a:rPr/>
                        <a:t>Cost</a:t>
                      </a:r>
                    </a:p>
                  </a:txBody>
                  <a:tcPr/>
                </a:tc>
                <a:tc>
                  <a:txBody>
                    <a:bodyPr/>
                    <a:lstStyle/>
                    <a:p>
                      <a:pPr lvl="0" indent="0" marL="0">
                        <a:buNone/>
                      </a:pPr>
                      <a:r>
                        <a:rPr/>
                        <a:t>Margin</a:t>
                      </a:r>
                    </a:p>
                  </a:txBody>
                  <a:tcPr/>
                </a:tc>
              </a:tr>
              <a:tr h="0">
                <a:tc>
                  <a:txBody>
                    <a:bodyPr/>
                    <a:lstStyle/>
                    <a:p>
                      <a:pPr lvl="0" indent="0" marL="0">
                        <a:buNone/>
                      </a:pPr>
                      <a:r>
                        <a:rPr b="1"/>
                        <a:t>Website Audit + Report</a:t>
                      </a:r>
                    </a:p>
                  </a:txBody>
                </a:tc>
                <a:tc>
                  <a:txBody>
                    <a:bodyPr/>
                    <a:lstStyle/>
                    <a:p>
                      <a:pPr lvl="0" indent="0" marL="0">
                        <a:buNone/>
                      </a:pPr>
                      <a:r>
                        <a:rPr/>
                        <a:t>$2,000–$5,000</a:t>
                      </a:r>
                    </a:p>
                  </a:txBody>
                </a:tc>
                <a:tc>
                  <a:txBody>
                    <a:bodyPr/>
                    <a:lstStyle/>
                    <a:p>
                      <a:pPr lvl="0" indent="0" marL="0">
                        <a:buNone/>
                      </a:pPr>
                      <a:r>
                        <a:rPr/>
                        <a:t>$1.00</a:t>
                      </a:r>
                    </a:p>
                  </a:txBody>
                </a:tc>
                <a:tc>
                  <a:txBody>
                    <a:bodyPr/>
                    <a:lstStyle/>
                    <a:p>
                      <a:pPr lvl="0" indent="0" marL="0">
                        <a:buNone/>
                      </a:pPr>
                      <a:r>
                        <a:rPr/>
                        <a:t>99.9%</a:t>
                      </a:r>
                    </a:p>
                  </a:txBody>
                </a:tc>
              </a:tr>
              <a:tr h="0">
                <a:tc>
                  <a:txBody>
                    <a:bodyPr/>
                    <a:lstStyle/>
                    <a:p>
                      <a:pPr lvl="0" indent="0" marL="0">
                        <a:buNone/>
                      </a:pPr>
                      <a:r>
                        <a:rPr b="1"/>
                        <a:t>Redesign Proposal</a:t>
                      </a:r>
                    </a:p>
                  </a:txBody>
                </a:tc>
                <a:tc>
                  <a:txBody>
                    <a:bodyPr/>
                    <a:lstStyle/>
                    <a:p>
                      <a:pPr lvl="0" indent="0" marL="0">
                        <a:buNone/>
                      </a:pPr>
                      <a:r>
                        <a:rPr/>
                        <a:t>$10,000–$25,000</a:t>
                      </a:r>
                    </a:p>
                  </a:txBody>
                </a:tc>
                <a:tc>
                  <a:txBody>
                    <a:bodyPr/>
                    <a:lstStyle/>
                    <a:p>
                      <a:pPr lvl="0" indent="0" marL="0">
                        <a:buNone/>
                      </a:pPr>
                      <a:r>
                        <a:rPr/>
                        <a:t>$1.50</a:t>
                      </a:r>
                    </a:p>
                  </a:txBody>
                </a:tc>
                <a:tc>
                  <a:txBody>
                    <a:bodyPr/>
                    <a:lstStyle/>
                    <a:p>
                      <a:pPr lvl="0" indent="0" marL="0">
                        <a:buNone/>
                      </a:pPr>
                      <a:r>
                        <a:rPr/>
                        <a:t>99.9%</a:t>
                      </a:r>
                    </a:p>
                  </a:txBody>
                </a:tc>
              </a:tr>
              <a:tr h="0">
                <a:tc>
                  <a:txBody>
                    <a:bodyPr/>
                    <a:lstStyle/>
                    <a:p>
                      <a:pPr lvl="0" indent="0" marL="0">
                        <a:buNone/>
                      </a:pPr>
                      <a:r>
                        <a:rPr b="1"/>
                        <a:t>Full Redesign Delivery</a:t>
                      </a:r>
                    </a:p>
                  </a:txBody>
                </a:tc>
                <a:tc>
                  <a:txBody>
                    <a:bodyPr/>
                    <a:lstStyle/>
                    <a:p>
                      <a:pPr lvl="0" indent="0" marL="0">
                        <a:buNone/>
                      </a:pPr>
                      <a:r>
                        <a:rPr/>
                        <a:t>$25,000–$75,000</a:t>
                      </a:r>
                    </a:p>
                  </a:txBody>
                </a:tc>
                <a:tc>
                  <a:txBody>
                    <a:bodyPr/>
                    <a:lstStyle/>
                    <a:p>
                      <a:pPr lvl="0" indent="0" marL="0">
                        <a:buNone/>
                      </a:pPr>
                      <a:r>
                        <a:rPr/>
                        <a:t>$1.50</a:t>
                      </a:r>
                    </a:p>
                  </a:txBody>
                </a:tc>
                <a:tc>
                  <a:txBody>
                    <a:bodyPr/>
                    <a:lstStyle/>
                    <a:p>
                      <a:pPr lvl="0" indent="0" marL="0">
                        <a:buNone/>
                      </a:pPr>
                      <a:r>
                        <a:rPr/>
                        <a:t>99.9%</a:t>
                      </a:r>
                    </a:p>
                  </a:txBody>
                </a:tc>
              </a:tr>
              <a:tr h="0">
                <a:tc>
                  <a:txBody>
                    <a:bodyPr/>
                    <a:lstStyle/>
                    <a:p>
                      <a:pPr lvl="0" indent="0" marL="0">
                        <a:buNone/>
                      </a:pPr>
                      <a:r>
                        <a:rPr b="1"/>
                        <a:t>Ongoing Optimization</a:t>
                      </a:r>
                    </a:p>
                  </a:txBody>
                </a:tc>
                <a:tc>
                  <a:txBody>
                    <a:bodyPr/>
                    <a:lstStyle/>
                    <a:p>
                      <a:pPr lvl="0" indent="0" marL="0">
                        <a:buNone/>
                      </a:pPr>
                      <a:r>
                        <a:rPr/>
                        <a:t>$2,000–$5,000/mo</a:t>
                      </a:r>
                    </a:p>
                  </a:txBody>
                </a:tc>
                <a:tc>
                  <a:txBody>
                    <a:bodyPr/>
                    <a:lstStyle/>
                    <a:p>
                      <a:pPr lvl="0" indent="0" marL="0">
                        <a:buNone/>
                      </a:pPr>
                      <a:r>
                        <a:rPr/>
                        <a:t>$1.00</a:t>
                      </a:r>
                    </a:p>
                  </a:txBody>
                </a:tc>
                <a:tc>
                  <a:txBody>
                    <a:bodyPr/>
                    <a:lstStyle/>
                    <a:p>
                      <a:pPr lvl="0" indent="0" marL="0">
                        <a:buNone/>
                      </a:pPr>
                      <a:r>
                        <a:rPr/>
                        <a:t>99.9%</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Note: The pipeline cost is negligible. The value is in the speed of delivery, quality of output, and data-driven insights.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6. Style Mode System</a:t>
            </a:r>
          </a:p>
          <a:p>
            <a:pPr lvl="0" indent="0" marL="0">
              <a:buNone/>
            </a:pPr>
            <a:r>
              <a:rPr/>
              <a:t>To prevent every generated site from converging on the same template, the pipeline uses a </a:t>
            </a:r>
            <a:r>
              <a:rPr b="1"/>
              <a:t>style mode</a:t>
            </a:r>
            <a:r>
              <a:rPr/>
              <a:t> system. The Creative Director and Motion agents commit fully to the assigned direction.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19200"/>
                <a:gridCol w="1117600"/>
                <a:gridCol w="1739900"/>
                <a:gridCol w="1016000"/>
              </a:tblGrid>
              <a:tr h="0">
                <a:tc>
                  <a:txBody>
                    <a:bodyPr/>
                    <a:lstStyle/>
                    <a:p>
                      <a:pPr lvl="0" indent="0" marL="0">
                        <a:buNone/>
                      </a:pPr>
                      <a:r>
                        <a:rPr/>
                        <a:t>Style Mode</a:t>
                      </a:r>
                    </a:p>
                  </a:txBody>
                  <a:tcPr/>
                </a:tc>
                <a:tc>
                  <a:txBody>
                    <a:bodyPr/>
                    <a:lstStyle/>
                    <a:p>
                      <a:pPr lvl="0" indent="0" marL="0">
                        <a:buNone/>
                      </a:pPr>
                      <a:r>
                        <a:rPr/>
                        <a:t>Typography</a:t>
                      </a:r>
                    </a:p>
                  </a:txBody>
                  <a:tcPr/>
                </a:tc>
                <a:tc>
                  <a:txBody>
                    <a:bodyPr/>
                    <a:lstStyle/>
                    <a:p>
                      <a:pPr lvl="0" indent="0" marL="0">
                        <a:buNone/>
                      </a:pPr>
                      <a:r>
                        <a:rPr/>
                        <a:t>Motion Character</a:t>
                      </a:r>
                    </a:p>
                  </a:txBody>
                  <a:tcPr/>
                </a:tc>
                <a:tc>
                  <a:txBody>
                    <a:bodyPr/>
                    <a:lstStyle/>
                    <a:p>
                      <a:pPr lvl="0" indent="0" marL="0">
                        <a:buNone/>
                      </a:pPr>
                      <a:r>
                        <a:rPr/>
                        <a:t>Best For</a:t>
                      </a:r>
                    </a:p>
                  </a:txBody>
                  <a:tcPr/>
                </a:tc>
              </a:tr>
              <a:tr h="0">
                <a:tc>
                  <a:txBody>
                    <a:bodyPr/>
                    <a:lstStyle/>
                    <a:p>
                      <a:pPr lvl="0" indent="0" marL="0">
                        <a:buNone/>
                      </a:pPr>
                      <a:r>
                        <a:rPr b="1"/>
                        <a:t>Editorial</a:t>
                      </a:r>
                    </a:p>
                  </a:txBody>
                </a:tc>
                <a:tc>
                  <a:txBody>
                    <a:bodyPr/>
                    <a:lstStyle/>
                    <a:p>
                      <a:pPr lvl="0" indent="0" marL="0">
                        <a:buNone/>
                      </a:pPr>
                      <a:r>
                        <a:rPr/>
                        <a:t>Oversized serif (Playfair Display, Fraunces), asymmetric grid, generous negative space</a:t>
                      </a:r>
                    </a:p>
                  </a:txBody>
                </a:tc>
                <a:tc>
                  <a:txBody>
                    <a:bodyPr/>
                    <a:lstStyle/>
                    <a:p>
                      <a:pPr lvl="0" indent="0" marL="0">
                        <a:buNone/>
                      </a:pPr>
                      <a:r>
                        <a:rPr/>
                        <a:t>Deliberate, measured — scroll like turning a page</a:t>
                      </a:r>
                    </a:p>
                  </a:txBody>
                </a:tc>
                <a:tc>
                  <a:txBody>
                    <a:bodyPr/>
                    <a:lstStyle/>
                    <a:p>
                      <a:pPr lvl="0" indent="0" marL="0">
                        <a:buNone/>
                      </a:pPr>
                      <a:r>
                        <a:rPr/>
                        <a:t>Publishing, luxury, legal, fintech</a:t>
                      </a:r>
                    </a:p>
                  </a:txBody>
                </a:tc>
              </a:tr>
              <a:tr h="0">
                <a:tc>
                  <a:txBody>
                    <a:bodyPr/>
                    <a:lstStyle/>
                    <a:p>
                      <a:pPr lvl="0" indent="0" marL="0">
                        <a:buNone/>
                      </a:pPr>
                      <a:r>
                        <a:rPr b="1"/>
                        <a:t>Brutalist</a:t>
                      </a:r>
                    </a:p>
                  </a:txBody>
                </a:tc>
                <a:tc>
                  <a:txBody>
                    <a:bodyPr/>
                    <a:lstStyle/>
                    <a:p>
                      <a:pPr lvl="0" indent="0" marL="0">
                        <a:buNone/>
                      </a:pPr>
                      <a:r>
                        <a:rPr/>
                        <a:t>Monospace accents (JetBrains Mono, Space Mono), visible grid lines, high-contrast palette</a:t>
                      </a:r>
                    </a:p>
                  </a:txBody>
                </a:tc>
                <a:tc>
                  <a:txBody>
                    <a:bodyPr/>
                    <a:lstStyle/>
                    <a:p>
                      <a:pPr lvl="0" indent="0" marL="0">
                        <a:buNone/>
                      </a:pPr>
                      <a:r>
                        <a:rPr/>
                        <a:t>Snappy, mechanical — hard cuts, instant state changes</a:t>
                      </a:r>
                    </a:p>
                  </a:txBody>
                </a:tc>
                <a:tc>
                  <a:txBody>
                    <a:bodyPr/>
                    <a:lstStyle/>
                    <a:p>
                      <a:pPr lvl="0" indent="0" marL="0">
                        <a:buNone/>
                      </a:pPr>
                      <a:r>
                        <a:rPr/>
                        <a:t>Tech, developer tools, automotive</a:t>
                      </a:r>
                    </a:p>
                  </a:txBody>
                </a:tc>
              </a:tr>
              <a:tr h="0">
                <a:tc>
                  <a:txBody>
                    <a:bodyPr/>
                    <a:lstStyle/>
                    <a:p>
                      <a:pPr lvl="0" indent="0" marL="0">
                        <a:buNone/>
                      </a:pPr>
                      <a:r>
                        <a:rPr b="1"/>
                        <a:t>Ambient</a:t>
                      </a:r>
                    </a:p>
                  </a:txBody>
                </a:tc>
                <a:tc>
                  <a:txBody>
                    <a:bodyPr/>
                    <a:lstStyle/>
                    <a:p>
                      <a:pPr lvl="0" indent="0" marL="0">
                        <a:buNone/>
                      </a:pPr>
                      <a:r>
                        <a:rPr/>
                        <a:t>Low-contrast, restrained type — environment leads</a:t>
                      </a:r>
                    </a:p>
                  </a:txBody>
                </a:tc>
                <a:tc>
                  <a:txBody>
                    <a:bodyPr/>
                    <a:lstStyle/>
                    <a:p>
                      <a:pPr lvl="0" indent="0" marL="0">
                        <a:buNone/>
                      </a:pPr>
                      <a:r>
                        <a:rPr/>
                        <a:t>Slow, drifting — parallax depth 0.02-0.05</a:t>
                      </a:r>
                    </a:p>
                  </a:txBody>
                </a:tc>
                <a:tc>
                  <a:txBody>
                    <a:bodyPr/>
                    <a:lstStyle/>
                    <a:p>
                      <a:pPr lvl="0" indent="0" marL="0">
                        <a:buNone/>
                      </a:pPr>
                      <a:r>
                        <a:rPr/>
                        <a:t>Wellness, hospitality, fashion</a:t>
                      </a:r>
                    </a:p>
                  </a:txBody>
                </a:tc>
              </a:tr>
              <a:tr h="0">
                <a:tc>
                  <a:txBody>
                    <a:bodyPr/>
                    <a:lstStyle/>
                    <a:p>
                      <a:pPr lvl="0" indent="0" marL="0">
                        <a:buNone/>
                      </a:pPr>
                      <a:r>
                        <a:rPr b="1"/>
                        <a:t>Kinetic Type</a:t>
                      </a:r>
                    </a:p>
                  </a:txBody>
                </a:tc>
                <a:tc>
                  <a:txBody>
                    <a:bodyPr/>
                    <a:lstStyle/>
                    <a:p>
                      <a:pPr lvl="0" indent="0" marL="0">
                        <a:buNone/>
                      </a:pPr>
                      <a:r>
                        <a:rPr/>
                        <a:t>Typography IS the hero — no supporting image needed</a:t>
                      </a:r>
                    </a:p>
                  </a:txBody>
                </a:tc>
                <a:tc>
                  <a:txBody>
                    <a:bodyPr/>
                    <a:lstStyle/>
                    <a:p>
                      <a:pPr lvl="0" indent="0" marL="0">
                        <a:buNone/>
                      </a:pPr>
                      <a:r>
                        <a:rPr/>
                        <a:t>Scroll-scrubbed text transformations</a:t>
                      </a:r>
                    </a:p>
                  </a:txBody>
                </a:tc>
                <a:tc>
                  <a:txBody>
                    <a:bodyPr/>
                    <a:lstStyle/>
                    <a:p>
                      <a:pPr lvl="0" indent="0" marL="0">
                        <a:buNone/>
                      </a:pPr>
                      <a:r>
                        <a:rPr/>
                        <a:t>Dev tools, media, agencies</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Assignment:</a:t>
            </a:r>
            <a:r>
              <a:rPr/>
              <a:t> Automatic classification based on industry, or manual selection per project.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7. Technical Architecture</a:t>
            </a:r>
          </a:p>
          <a:p>
            <a:pPr lvl="0" indent="0" marL="0">
              <a:spcBef>
                <a:spcPts val="3000"/>
              </a:spcBef>
              <a:buNone/>
            </a:pPr>
            <a:r>
              <a:rPr b="1"/>
              <a:t>7.1 Orchestration</a:t>
            </a:r>
          </a:p>
          <a:p>
            <a:pPr lvl="0"/>
            <a:r>
              <a:rPr b="1"/>
              <a:t>Framework:</a:t>
            </a:r>
            <a:r>
              <a:rPr/>
              <a:t> LangGraph (LangChain)</a:t>
            </a:r>
          </a:p>
          <a:p>
            <a:pPr lvl="0"/>
            <a:r>
              <a:rPr b="1"/>
              <a:t>Topology:</a:t>
            </a:r>
            <a:r>
              <a:rPr/>
              <a:t> DAG with parallel fan-out, dependency enforcement, QA retry loop</a:t>
            </a:r>
          </a:p>
          <a:p>
            <a:pPr lvl="0"/>
            <a:r>
              <a:rPr b="1"/>
              <a:t>Checkpointing:</a:t>
            </a:r>
            <a:r>
              <a:rPr/>
              <a:t> PostgreSQL (durable, resumable, crash-recoverable)</a:t>
            </a:r>
          </a:p>
          <a:p>
            <a:pPr lvl="0"/>
            <a:r>
              <a:rPr b="1"/>
              <a:t>State:</a:t>
            </a:r>
            <a:r>
              <a:rPr/>
              <a:t> Typed Pydantic models with reducers for concurrent safety</a:t>
            </a:r>
          </a:p>
          <a:p>
            <a:pPr lvl="0"/>
            <a:r>
              <a:rPr b="1"/>
              <a:t>Streaming:</a:t>
            </a:r>
            <a:r>
              <a:rPr/>
              <a:t> WebSocket + SSE for live progress</a:t>
            </a:r>
          </a:p>
          <a:p>
            <a:pPr lvl="0"/>
            <a:r>
              <a:rPr b="1"/>
              <a:t>Human-in-the-Loop:</a:t>
            </a:r>
            <a:r>
              <a:rPr/>
              <a:t> Approval gates with interrupt/resume</a:t>
            </a:r>
          </a:p>
          <a:p>
            <a:pPr lvl="0" indent="0" marL="0">
              <a:spcBef>
                <a:spcPts val="3000"/>
              </a:spcBef>
              <a:buNone/>
            </a:pPr>
            <a:r>
              <a:rPr b="1"/>
              <a:t>7.2 Agents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368300"/>
                <a:gridCol w="850900"/>
                <a:gridCol w="1828800"/>
                <a:gridCol w="977900"/>
                <a:gridCol w="1092200"/>
              </a:tblGrid>
              <a:tr h="0">
                <a:tc>
                  <a:txBody>
                    <a:bodyPr/>
                    <a:lstStyle/>
                    <a:p>
                      <a:pPr lvl="0" indent="0" marL="0">
                        <a:buNone/>
                      </a:pPr>
                      <a:r>
                        <a:rPr/>
                        <a:t>#</a:t>
                      </a:r>
                    </a:p>
                  </a:txBody>
                  <a:tcPr/>
                </a:tc>
                <a:tc>
                  <a:txBody>
                    <a:bodyPr/>
                    <a:lstStyle/>
                    <a:p>
                      <a:pPr lvl="0" indent="0" marL="0">
                        <a:buNone/>
                      </a:pPr>
                      <a:r>
                        <a:rPr/>
                        <a:t>Agent</a:t>
                      </a:r>
                    </a:p>
                  </a:txBody>
                  <a:tcPr/>
                </a:tc>
                <a:tc>
                  <a:txBody>
                    <a:bodyPr/>
                    <a:lstStyle/>
                    <a:p>
                      <a:pPr lvl="0" indent="0" marL="0">
                        <a:buNone/>
                      </a:pPr>
                      <a:r>
                        <a:rPr/>
                        <a:t>Responsibility</a:t>
                      </a:r>
                    </a:p>
                  </a:txBody>
                  <a:tcPr/>
                </a:tc>
                <a:tc>
                  <a:txBody>
                    <a:bodyPr/>
                    <a:lstStyle/>
                    <a:p>
                      <a:pPr lvl="0" indent="0" marL="0">
                        <a:buNone/>
                      </a:pPr>
                      <a:r>
                        <a:rPr/>
                        <a:t>Inputs</a:t>
                      </a:r>
                    </a:p>
                  </a:txBody>
                  <a:tcPr/>
                </a:tc>
                <a:tc>
                  <a:txBody>
                    <a:bodyPr/>
                    <a:lstStyle/>
                    <a:p>
                      <a:pPr lvl="0" indent="0" marL="0">
                        <a:buNone/>
                      </a:pPr>
                      <a:r>
                        <a:rPr/>
                        <a:t>Outputs</a:t>
                      </a:r>
                    </a:p>
                  </a:txBody>
                  <a:tcPr/>
                </a:tc>
              </a:tr>
              <a:tr h="0">
                <a:tc>
                  <a:txBody>
                    <a:bodyPr/>
                    <a:lstStyle/>
                    <a:p>
                      <a:pPr lvl="0" indent="0" marL="0">
                        <a:buNone/>
                      </a:pPr>
                      <a:r>
                        <a:rPr/>
                        <a:t>1</a:t>
                      </a:r>
                    </a:p>
                  </a:txBody>
                </a:tc>
                <a:tc>
                  <a:txBody>
                    <a:bodyPr/>
                    <a:lstStyle/>
                    <a:p>
                      <a:pPr lvl="0" indent="0" marL="0">
                        <a:buNone/>
                      </a:pPr>
                      <a:r>
                        <a:rPr b="1"/>
                        <a:t>Planner</a:t>
                      </a:r>
                    </a:p>
                  </a:txBody>
                </a:tc>
                <a:tc>
                  <a:txBody>
                    <a:bodyPr/>
                    <a:lstStyle/>
                    <a:p>
                      <a:pPr lvl="0" indent="0" marL="0">
                        <a:buNone/>
                      </a:pPr>
                      <a:r>
                        <a:rPr/>
                        <a:t>Task graph construction</a:t>
                      </a:r>
                    </a:p>
                  </a:txBody>
                </a:tc>
                <a:tc>
                  <a:txBody>
                    <a:bodyPr/>
                    <a:lstStyle/>
                    <a:p>
                      <a:pPr lvl="0" indent="0" marL="0">
                        <a:buNone/>
                      </a:pPr>
                      <a:r>
                        <a:rPr/>
                        <a:t>Request</a:t>
                      </a:r>
                    </a:p>
                  </a:txBody>
                </a:tc>
                <a:tc>
                  <a:txBody>
                    <a:bodyPr/>
                    <a:lstStyle/>
                    <a:p>
                      <a:pPr lvl="0" indent="0" marL="0">
                        <a:buNone/>
                      </a:pPr>
                      <a:r>
                        <a:rPr/>
                        <a:t>TaskPlan</a:t>
                      </a:r>
                    </a:p>
                  </a:txBody>
                </a:tc>
              </a:tr>
              <a:tr h="0">
                <a:tc>
                  <a:txBody>
                    <a:bodyPr/>
                    <a:lstStyle/>
                    <a:p>
                      <a:pPr lvl="0" indent="0" marL="0">
                        <a:buNone/>
                      </a:pPr>
                      <a:r>
                        <a:rPr/>
                        <a:t>2</a:t>
                      </a:r>
                    </a:p>
                  </a:txBody>
                </a:tc>
                <a:tc>
                  <a:txBody>
                    <a:bodyPr/>
                    <a:lstStyle/>
                    <a:p>
                      <a:pPr lvl="0" indent="0" marL="0">
                        <a:buNone/>
                      </a:pPr>
                      <a:r>
                        <a:rPr b="1"/>
                        <a:t>Website Analysis</a:t>
                      </a:r>
                    </a:p>
                  </a:txBody>
                </a:tc>
                <a:tc>
                  <a:txBody>
                    <a:bodyPr/>
                    <a:lstStyle/>
                    <a:p>
                      <a:pPr lvl="0" indent="0" marL="0">
                        <a:buNone/>
                      </a:pPr>
                      <a:r>
                        <a:rPr/>
                        <a:t>UI/UX audit + screenshots</a:t>
                      </a:r>
                    </a:p>
                  </a:txBody>
                </a:tc>
                <a:tc>
                  <a:txBody>
                    <a:bodyPr/>
                    <a:lstStyle/>
                    <a:p>
                      <a:pPr lvl="0" indent="0" marL="0">
                        <a:buNone/>
                      </a:pPr>
                      <a:r>
                        <a:rPr/>
                        <a:t>URL</a:t>
                      </a:r>
                    </a:p>
                  </a:txBody>
                </a:tc>
                <a:tc>
                  <a:txBody>
                    <a:bodyPr/>
                    <a:lstStyle/>
                    <a:p>
                      <a:pPr lvl="0" indent="0" marL="0">
                        <a:buNone/>
                      </a:pPr>
                      <a:r>
                        <a:rPr/>
                        <a:t>WebsiteAnalysisOutput</a:t>
                      </a:r>
                    </a:p>
                  </a:txBody>
                </a:tc>
              </a:tr>
              <a:tr h="0">
                <a:tc>
                  <a:txBody>
                    <a:bodyPr/>
                    <a:lstStyle/>
                    <a:p>
                      <a:pPr lvl="0" indent="0" marL="0">
                        <a:buNone/>
                      </a:pPr>
                      <a:r>
                        <a:rPr/>
                        <a:t>3</a:t>
                      </a:r>
                    </a:p>
                  </a:txBody>
                </a:tc>
                <a:tc>
                  <a:txBody>
                    <a:bodyPr/>
                    <a:lstStyle/>
                    <a:p>
                      <a:pPr lvl="0" indent="0" marL="0">
                        <a:buNone/>
                      </a:pPr>
                      <a:r>
                        <a:rPr b="1"/>
                        <a:t>SEO</a:t>
                      </a:r>
                    </a:p>
                  </a:txBody>
                </a:tc>
                <a:tc>
                  <a:txBody>
                    <a:bodyPr/>
                    <a:lstStyle/>
                    <a:p>
                      <a:pPr lvl="0" indent="0" marL="0">
                        <a:buNone/>
                      </a:pPr>
                      <a:r>
                        <a:rPr/>
                        <a:t>SEO + performance audit</a:t>
                      </a:r>
                    </a:p>
                  </a:txBody>
                </a:tc>
                <a:tc>
                  <a:txBody>
                    <a:bodyPr/>
                    <a:lstStyle/>
                    <a:p>
                      <a:pPr lvl="0" indent="0" marL="0">
                        <a:buNone/>
                      </a:pPr>
                      <a:r>
                        <a:rPr/>
                        <a:t>URL, analysis</a:t>
                      </a:r>
                    </a:p>
                  </a:txBody>
                </a:tc>
                <a:tc>
                  <a:txBody>
                    <a:bodyPr/>
                    <a:lstStyle/>
                    <a:p>
                      <a:pPr lvl="0" indent="0" marL="0">
                        <a:buNone/>
                      </a:pPr>
                      <a:r>
                        <a:rPr/>
                        <a:t>SeoReport</a:t>
                      </a:r>
                    </a:p>
                  </a:txBody>
                </a:tc>
              </a:tr>
              <a:tr h="0">
                <a:tc>
                  <a:txBody>
                    <a:bodyPr/>
                    <a:lstStyle/>
                    <a:p>
                      <a:pPr lvl="0" indent="0" marL="0">
                        <a:buNone/>
                      </a:pPr>
                      <a:r>
                        <a:rPr/>
                        <a:t>4</a:t>
                      </a:r>
                    </a:p>
                  </a:txBody>
                </a:tc>
                <a:tc>
                  <a:txBody>
                    <a:bodyPr/>
                    <a:lstStyle/>
                    <a:p>
                      <a:pPr lvl="0" indent="0" marL="0">
                        <a:buNone/>
                      </a:pPr>
                      <a:r>
                        <a:rPr b="1"/>
                        <a:t>Brand Research</a:t>
                      </a:r>
                    </a:p>
                  </a:txBody>
                </a:tc>
                <a:tc>
                  <a:txBody>
                    <a:bodyPr/>
                    <a:lstStyle/>
                    <a:p>
                      <a:pPr lvl="0" indent="0" marL="0">
                        <a:buNone/>
                      </a:pPr>
                      <a:r>
                        <a:rPr/>
                        <a:t>Brand DNA + competitors</a:t>
                      </a:r>
                    </a:p>
                  </a:txBody>
                </a:tc>
                <a:tc>
                  <a:txBody>
                    <a:bodyPr/>
                    <a:lstStyle/>
                    <a:p>
                      <a:pPr lvl="0" indent="0" marL="0">
                        <a:buNone/>
                      </a:pPr>
                      <a:r>
                        <a:rPr/>
                        <a:t>URL, intent</a:t>
                      </a:r>
                    </a:p>
                  </a:txBody>
                </a:tc>
                <a:tc>
                  <a:txBody>
                    <a:bodyPr/>
                    <a:lstStyle/>
                    <a:p>
                      <a:pPr lvl="0" indent="0" marL="0">
                        <a:buNone/>
                      </a:pPr>
                      <a:r>
                        <a:rPr/>
                        <a:t>BrandDna</a:t>
                      </a:r>
                    </a:p>
                  </a:txBody>
                </a:tc>
              </a:tr>
              <a:tr h="0">
                <a:tc>
                  <a:txBody>
                    <a:bodyPr/>
                    <a:lstStyle/>
                    <a:p>
                      <a:pPr lvl="0" indent="0" marL="0">
                        <a:buNone/>
                      </a:pPr>
                      <a:r>
                        <a:rPr/>
                        <a:t>5</a:t>
                      </a:r>
                    </a:p>
                  </a:txBody>
                </a:tc>
                <a:tc>
                  <a:txBody>
                    <a:bodyPr/>
                    <a:lstStyle/>
                    <a:p>
                      <a:pPr lvl="0" indent="0" marL="0">
                        <a:buNone/>
                      </a:pPr>
                      <a:r>
                        <a:rPr b="1"/>
                        <a:t>Lead Discovery</a:t>
                      </a:r>
                    </a:p>
                  </a:txBody>
                </a:tc>
                <a:tc>
                  <a:txBody>
                    <a:bodyPr/>
                    <a:lstStyle/>
                    <a:p>
                      <a:pPr lvl="0" indent="0" marL="0">
                        <a:buNone/>
                      </a:pPr>
                      <a:r>
                        <a:rPr/>
                        <a:t>Prospect ranking + pitches</a:t>
                      </a:r>
                    </a:p>
                  </a:txBody>
                </a:tc>
                <a:tc>
                  <a:txBody>
                    <a:bodyPr/>
                    <a:lstStyle/>
                    <a:p>
                      <a:pPr lvl="0" indent="0" marL="0">
                        <a:buNone/>
                      </a:pPr>
                      <a:r>
                        <a:rPr/>
                        <a:t>Brand, analysis</a:t>
                      </a:r>
                    </a:p>
                  </a:txBody>
                </a:tc>
                <a:tc>
                  <a:txBody>
                    <a:bodyPr/>
                    <a:lstStyle/>
                    <a:p>
                      <a:pPr lvl="0" indent="0" marL="0">
                        <a:buNone/>
                      </a:pPr>
                      <a:r>
                        <a:rPr/>
                        <a:t>LeadReport</a:t>
                      </a:r>
                    </a:p>
                  </a:txBody>
                </a:tc>
              </a:tr>
              <a:tr h="0">
                <a:tc>
                  <a:txBody>
                    <a:bodyPr/>
                    <a:lstStyle/>
                    <a:p>
                      <a:pPr lvl="0" indent="0" marL="0">
                        <a:buNone/>
                      </a:pPr>
                      <a:r>
                        <a:rPr/>
                        <a:t>6</a:t>
                      </a:r>
                    </a:p>
                  </a:txBody>
                </a:tc>
                <a:tc>
                  <a:txBody>
                    <a:bodyPr/>
                    <a:lstStyle/>
                    <a:p>
                      <a:pPr lvl="0" indent="0" marL="0">
                        <a:buNone/>
                      </a:pPr>
                      <a:r>
                        <a:rPr b="1"/>
                        <a:t>Creative Director</a:t>
                      </a:r>
                    </a:p>
                  </a:txBody>
                </a:tc>
                <a:tc>
                  <a:txBody>
                    <a:bodyPr/>
                    <a:lstStyle/>
                    <a:p>
                      <a:pPr lvl="0" indent="0" marL="0">
                        <a:buNone/>
                      </a:pPr>
                      <a:r>
                        <a:rPr/>
                        <a:t>Art direction + moodboards</a:t>
                      </a:r>
                    </a:p>
                  </a:txBody>
                </a:tc>
                <a:tc>
                  <a:txBody>
                    <a:bodyPr/>
                    <a:lstStyle/>
                    <a:p>
                      <a:pPr lvl="0" indent="0" marL="0">
                        <a:buNone/>
                      </a:pPr>
                      <a:r>
                        <a:rPr/>
                        <a:t>Brand, analysis, SEO</a:t>
                      </a:r>
                    </a:p>
                  </a:txBody>
                </a:tc>
                <a:tc>
                  <a:txBody>
                    <a:bodyPr/>
                    <a:lstStyle/>
                    <a:p>
                      <a:pPr lvl="0" indent="0" marL="0">
                        <a:buNone/>
                      </a:pPr>
                      <a:r>
                        <a:rPr/>
                        <a:t>CreativeDirection</a:t>
                      </a:r>
                    </a:p>
                  </a:txBody>
                </a:tc>
              </a:tr>
              <a:tr h="0">
                <a:tc>
                  <a:txBody>
                    <a:bodyPr/>
                    <a:lstStyle/>
                    <a:p>
                      <a:pPr lvl="0" indent="0" marL="0">
                        <a:buNone/>
                      </a:pPr>
                      <a:r>
                        <a:rPr/>
                        <a:t>7</a:t>
                      </a:r>
                    </a:p>
                  </a:txBody>
                </a:tc>
                <a:tc>
                  <a:txBody>
                    <a:bodyPr/>
                    <a:lstStyle/>
                    <a:p>
                      <a:pPr lvl="0" indent="0" marL="0">
                        <a:buNone/>
                      </a:pPr>
                      <a:r>
                        <a:rPr b="1"/>
                        <a:t>UX</a:t>
                      </a:r>
                    </a:p>
                  </a:txBody>
                </a:tc>
                <a:tc>
                  <a:txBody>
                    <a:bodyPr/>
                    <a:lstStyle/>
                    <a:p>
                      <a:pPr lvl="0" indent="0" marL="0">
                        <a:buNone/>
                      </a:pPr>
                      <a:r>
                        <a:rPr/>
                        <a:t>Sitemap + wireframes + CTAs</a:t>
                      </a:r>
                    </a:p>
                  </a:txBody>
                </a:tc>
                <a:tc>
                  <a:txBody>
                    <a:bodyPr/>
                    <a:lstStyle/>
                    <a:p>
                      <a:pPr lvl="0" indent="0" marL="0">
                        <a:buNone/>
                      </a:pPr>
                      <a:r>
                        <a:rPr/>
                        <a:t>Brand, creative, analysis</a:t>
                      </a:r>
                    </a:p>
                  </a:txBody>
                </a:tc>
                <a:tc>
                  <a:txBody>
                    <a:bodyPr/>
                    <a:lstStyle/>
                    <a:p>
                      <a:pPr lvl="0" indent="0" marL="0">
                        <a:buNone/>
                      </a:pPr>
                      <a:r>
                        <a:rPr/>
                        <a:t>UxPlan</a:t>
                      </a:r>
                    </a:p>
                  </a:txBody>
                </a:tc>
              </a:tr>
              <a:tr h="0">
                <a:tc>
                  <a:txBody>
                    <a:bodyPr/>
                    <a:lstStyle/>
                    <a:p>
                      <a:pPr lvl="0" indent="0" marL="0">
                        <a:buNone/>
                      </a:pPr>
                      <a:r>
                        <a:rPr/>
                        <a:t>8</a:t>
                      </a:r>
                    </a:p>
                  </a:txBody>
                </a:tc>
                <a:tc>
                  <a:txBody>
                    <a:bodyPr/>
                    <a:lstStyle/>
                    <a:p>
                      <a:pPr lvl="0" indent="0" marL="0">
                        <a:buNone/>
                      </a:pPr>
                      <a:r>
                        <a:rPr b="1"/>
                        <a:t>UI Design</a:t>
                      </a:r>
                    </a:p>
                  </a:txBody>
                </a:tc>
                <a:tc>
                  <a:txBody>
                    <a:bodyPr/>
                    <a:lstStyle/>
                    <a:p>
                      <a:pPr lvl="0" indent="0" marL="0">
                        <a:buNone/>
                      </a:pPr>
                      <a:r>
                        <a:rPr/>
                        <a:t>Tokens + components + layouts</a:t>
                      </a:r>
                    </a:p>
                  </a:txBody>
                </a:tc>
                <a:tc>
                  <a:txBody>
                    <a:bodyPr/>
                    <a:lstStyle/>
                    <a:p>
                      <a:pPr lvl="0" indent="0" marL="0">
                        <a:buNone/>
                      </a:pPr>
                      <a:r>
                        <a:rPr/>
                        <a:t>Creative, UX, brand</a:t>
                      </a:r>
                    </a:p>
                  </a:txBody>
                </a:tc>
                <a:tc>
                  <a:txBody>
                    <a:bodyPr/>
                    <a:lstStyle/>
                    <a:p>
                      <a:pPr lvl="0" indent="0" marL="0">
                        <a:buNone/>
                      </a:pPr>
                      <a:r>
                        <a:rPr/>
                        <a:t>UiDesign</a:t>
                      </a:r>
                    </a:p>
                  </a:txBody>
                </a:tc>
              </a:tr>
              <a:tr h="0">
                <a:tc>
                  <a:txBody>
                    <a:bodyPr/>
                    <a:lstStyle/>
                    <a:p>
                      <a:pPr lvl="0" indent="0" marL="0">
                        <a:buNone/>
                      </a:pPr>
                      <a:r>
                        <a:rPr/>
                        <a:t>9</a:t>
                      </a:r>
                    </a:p>
                  </a:txBody>
                </a:tc>
                <a:tc>
                  <a:txBody>
                    <a:bodyPr/>
                    <a:lstStyle/>
                    <a:p>
                      <a:pPr lvl="0" indent="0" marL="0">
                        <a:buNone/>
                      </a:pPr>
                      <a:r>
                        <a:rPr b="1"/>
                        <a:t>Motion Design</a:t>
                      </a:r>
                    </a:p>
                  </a:txBody>
                </a:tc>
                <a:tc>
                  <a:txBody>
                    <a:bodyPr/>
                    <a:lstStyle/>
                    <a:p>
                      <a:pPr lvl="0" indent="0" marL="0">
                        <a:buNone/>
                      </a:pPr>
                      <a:r>
                        <a:rPr/>
                        <a:t>Animations + scroll narrative</a:t>
                      </a:r>
                    </a:p>
                  </a:txBody>
                </a:tc>
                <a:tc>
                  <a:txBody>
                    <a:bodyPr/>
                    <a:lstStyle/>
                    <a:p>
                      <a:pPr lvl="0" indent="0" marL="0">
                        <a:buNone/>
                      </a:pPr>
                      <a:r>
                        <a:rPr/>
                        <a:t>Creative, UI, UX</a:t>
                      </a:r>
                    </a:p>
                  </a:txBody>
                </a:tc>
                <a:tc>
                  <a:txBody>
                    <a:bodyPr/>
                    <a:lstStyle/>
                    <a:p>
                      <a:pPr lvl="0" indent="0" marL="0">
                        <a:buNone/>
                      </a:pPr>
                      <a:r>
                        <a:rPr/>
                        <a:t>MotionDesign</a:t>
                      </a:r>
                    </a:p>
                  </a:txBody>
                </a:tc>
              </a:tr>
              <a:tr h="0">
                <a:tc>
                  <a:txBody>
                    <a:bodyPr/>
                    <a:lstStyle/>
                    <a:p>
                      <a:pPr lvl="0" indent="0" marL="0">
                        <a:buNone/>
                      </a:pPr>
                      <a:r>
                        <a:rPr/>
                        <a:t>10</a:t>
                      </a:r>
                    </a:p>
                  </a:txBody>
                </a:tc>
                <a:tc>
                  <a:txBody>
                    <a:bodyPr/>
                    <a:lstStyle/>
                    <a:p>
                      <a:pPr lvl="0" indent="0" marL="0">
                        <a:buNone/>
                      </a:pPr>
                      <a:r>
                        <a:rPr b="1"/>
                        <a:t>Engineering</a:t>
                      </a:r>
                    </a:p>
                  </a:txBody>
                </a:tc>
                <a:tc>
                  <a:txBody>
                    <a:bodyPr/>
                    <a:lstStyle/>
                    <a:p>
                      <a:pPr lvl="0" indent="0" marL="0">
                        <a:buNone/>
                      </a:pPr>
                      <a:r>
                        <a:rPr/>
                        <a:t>Next.js code generation</a:t>
                      </a:r>
                    </a:p>
                  </a:txBody>
                </a:tc>
                <a:tc>
                  <a:txBody>
                    <a:bodyPr/>
                    <a:lstStyle/>
                    <a:p>
                      <a:pPr lvl="0" indent="0" marL="0">
                        <a:buNone/>
                      </a:pPr>
                      <a:r>
                        <a:rPr/>
                        <a:t>UI, motion, UX, SEO, creative</a:t>
                      </a:r>
                    </a:p>
                  </a:txBody>
                </a:tc>
                <a:tc>
                  <a:txBody>
                    <a:bodyPr/>
                    <a:lstStyle/>
                    <a:p>
                      <a:pPr lvl="0" indent="0" marL="0">
                        <a:buNone/>
                      </a:pPr>
                      <a:r>
                        <a:rPr/>
                        <a:t>FrontendCode</a:t>
                      </a:r>
                    </a:p>
                  </a:txBody>
                </a:tc>
              </a:tr>
              <a:tr h="0">
                <a:tc>
                  <a:txBody>
                    <a:bodyPr/>
                    <a:lstStyle/>
                    <a:p>
                      <a:pPr lvl="0" indent="0" marL="0">
                        <a:buNone/>
                      </a:pPr>
                      <a:r>
                        <a:rPr/>
                        <a:t>11</a:t>
                      </a:r>
                    </a:p>
                  </a:txBody>
                </a:tc>
                <a:tc>
                  <a:txBody>
                    <a:bodyPr/>
                    <a:lstStyle/>
                    <a:p>
                      <a:pPr lvl="0" indent="0" marL="0">
                        <a:buNone/>
                      </a:pPr>
                      <a:r>
                        <a:rPr b="1"/>
                        <a:t>QA</a:t>
                      </a:r>
                    </a:p>
                  </a:txBody>
                </a:tc>
                <a:tc>
                  <a:txBody>
                    <a:bodyPr/>
                    <a:lstStyle/>
                    <a:p>
                      <a:pPr lvl="0" indent="0" marL="0">
                        <a:buNone/>
                      </a:pPr>
                      <a:r>
                        <a:rPr/>
                        <a:t>7-dimension quality gate</a:t>
                      </a:r>
                    </a:p>
                  </a:txBody>
                </a:tc>
                <a:tc>
                  <a:txBody>
                    <a:bodyPr/>
                    <a:lstStyle/>
                    <a:p>
                      <a:pPr lvl="0" indent="0" marL="0">
                        <a:buNone/>
                      </a:pPr>
                      <a:r>
                        <a:rPr/>
                        <a:t>Engineering, all specs</a:t>
                      </a:r>
                    </a:p>
                  </a:txBody>
                </a:tc>
                <a:tc>
                  <a:txBody>
                    <a:bodyPr/>
                    <a:lstStyle/>
                    <a:p>
                      <a:pPr lvl="0" indent="0" marL="0">
                        <a:buNone/>
                      </a:pPr>
                      <a:r>
                        <a:rPr/>
                        <a:t>QaReport</a:t>
                      </a:r>
                    </a:p>
                  </a:txBody>
                </a:tc>
              </a:tr>
              <a:tr h="0">
                <a:tc>
                  <a:txBody>
                    <a:bodyPr/>
                    <a:lstStyle/>
                    <a:p>
                      <a:pPr lvl="0" indent="0" marL="0">
                        <a:buNone/>
                      </a:pPr>
                      <a:r>
                        <a:rPr/>
                        <a:t>12</a:t>
                      </a:r>
                    </a:p>
                  </a:txBody>
                </a:tc>
                <a:tc>
                  <a:txBody>
                    <a:bodyPr/>
                    <a:lstStyle/>
                    <a:p>
                      <a:pPr lvl="0" indent="0" marL="0">
                        <a:buNone/>
                      </a:pPr>
                      <a:r>
                        <a:rPr b="1"/>
                        <a:t>Synthesizer</a:t>
                      </a:r>
                    </a:p>
                  </a:txBody>
                </a:tc>
                <a:tc>
                  <a:txBody>
                    <a:bodyPr/>
                    <a:lstStyle/>
                    <a:p>
                      <a:pPr lvl="0" indent="0" marL="0">
                        <a:buNone/>
                      </a:pPr>
                      <a:r>
                        <a:rPr/>
                        <a:t>File assembly + delivery</a:t>
                      </a:r>
                    </a:p>
                  </a:txBody>
                </a:tc>
                <a:tc>
                  <a:txBody>
                    <a:bodyPr/>
                    <a:lstStyle/>
                    <a:p>
                      <a:pPr lvl="0" indent="0" marL="0">
                        <a:buNone/>
                      </a:pPr>
                      <a:r>
                        <a:rPr/>
                        <a:t>All outputs</a:t>
                      </a:r>
                    </a:p>
                  </a:txBody>
                </a:tc>
                <a:tc>
                  <a:txBody>
                    <a:bodyPr/>
                    <a:lstStyle/>
                    <a:p>
                      <a:pPr lvl="0" indent="0" marL="0">
                        <a:buNone/>
                      </a:pPr>
                      <a:r>
                        <a:rPr/>
                        <a:t>FinalArtifact</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7.3 Tools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460500"/>
                <a:gridCol w="2184400"/>
                <a:gridCol w="1460500"/>
              </a:tblGrid>
              <a:tr h="0">
                <a:tc>
                  <a:txBody>
                    <a:bodyPr/>
                    <a:lstStyle/>
                    <a:p>
                      <a:pPr lvl="0" indent="0" marL="0">
                        <a:buNone/>
                      </a:pPr>
                      <a:r>
                        <a:rPr/>
                        <a:t>Tool</a:t>
                      </a:r>
                    </a:p>
                  </a:txBody>
                  <a:tcPr/>
                </a:tc>
                <a:tc>
                  <a:txBody>
                    <a:bodyPr/>
                    <a:lstStyle/>
                    <a:p>
                      <a:pPr lvl="0" indent="0" marL="0">
                        <a:buNone/>
                      </a:pPr>
                      <a:r>
                        <a:rPr/>
                        <a:t>Purpose</a:t>
                      </a:r>
                    </a:p>
                  </a:txBody>
                  <a:tcPr/>
                </a:tc>
                <a:tc>
                  <a:txBody>
                    <a:bodyPr/>
                    <a:lstStyle/>
                    <a:p>
                      <a:pPr lvl="0" indent="0" marL="0">
                        <a:buNone/>
                      </a:pPr>
                      <a:r>
                        <a:rPr/>
                        <a:t>Cost</a:t>
                      </a:r>
                    </a:p>
                  </a:txBody>
                  <a:tcPr/>
                </a:tc>
              </a:tr>
              <a:tr h="0">
                <a:tc>
                  <a:txBody>
                    <a:bodyPr/>
                    <a:lstStyle/>
                    <a:p>
                      <a:pPr lvl="0" indent="0" marL="0">
                        <a:buNone/>
                      </a:pPr>
                      <a:r>
                        <a:rPr b="1"/>
                        <a:t>Playwright</a:t>
                      </a:r>
                    </a:p>
                  </a:txBody>
                </a:tc>
                <a:tc>
                  <a:txBody>
                    <a:bodyPr/>
                    <a:lstStyle/>
                    <a:p>
                      <a:pPr lvl="0" indent="0" marL="0">
                        <a:buNone/>
                      </a:pPr>
                      <a:r>
                        <a:rPr/>
                        <a:t>Screenshots + browser automation</a:t>
                      </a:r>
                    </a:p>
                  </a:txBody>
                </a:tc>
                <a:tc>
                  <a:txBody>
                    <a:bodyPr/>
                    <a:lstStyle/>
                    <a:p>
                      <a:pPr lvl="0" indent="0" marL="0">
                        <a:buNone/>
                      </a:pPr>
                      <a:r>
                        <a:rPr/>
                        <a:t>Free</a:t>
                      </a:r>
                    </a:p>
                  </a:txBody>
                </a:tc>
              </a:tr>
              <a:tr h="0">
                <a:tc>
                  <a:txBody>
                    <a:bodyPr/>
                    <a:lstStyle/>
                    <a:p>
                      <a:pPr lvl="0" indent="0" marL="0">
                        <a:buNone/>
                      </a:pPr>
                      <a:r>
                        <a:rPr b="1"/>
                        <a:t>httpx + BeautifulSoup</a:t>
                      </a:r>
                    </a:p>
                  </a:txBody>
                </a:tc>
                <a:tc>
                  <a:txBody>
                    <a:bodyPr/>
                    <a:lstStyle/>
                    <a:p>
                      <a:pPr lvl="0" indent="0" marL="0">
                        <a:buNone/>
                      </a:pPr>
                      <a:r>
                        <a:rPr/>
                        <a:t>Web crawling</a:t>
                      </a:r>
                    </a:p>
                  </a:txBody>
                </a:tc>
                <a:tc>
                  <a:txBody>
                    <a:bodyPr/>
                    <a:lstStyle/>
                    <a:p>
                      <a:pPr lvl="0" indent="0" marL="0">
                        <a:buNone/>
                      </a:pPr>
                      <a:r>
                        <a:rPr/>
                        <a:t>Free</a:t>
                      </a:r>
                    </a:p>
                  </a:txBody>
                </a:tc>
              </a:tr>
              <a:tr h="0">
                <a:tc>
                  <a:txBody>
                    <a:bodyPr/>
                    <a:lstStyle/>
                    <a:p>
                      <a:pPr lvl="0" indent="0" marL="0">
                        <a:buNone/>
                      </a:pPr>
                      <a:r>
                        <a:rPr b="1"/>
                        <a:t>Lighthouse</a:t>
                      </a:r>
                    </a:p>
                  </a:txBody>
                </a:tc>
                <a:tc>
                  <a:txBody>
                    <a:bodyPr/>
                    <a:lstStyle/>
                    <a:p>
                      <a:pPr lvl="0" indent="0" marL="0">
                        <a:buNone/>
                      </a:pPr>
                      <a:r>
                        <a:rPr/>
                        <a:t>Performance + SEO audit</a:t>
                      </a:r>
                    </a:p>
                  </a:txBody>
                </a:tc>
                <a:tc>
                  <a:txBody>
                    <a:bodyPr/>
                    <a:lstStyle/>
                    <a:p>
                      <a:pPr lvl="0" indent="0" marL="0">
                        <a:buNone/>
                      </a:pPr>
                      <a:r>
                        <a:rPr/>
                        <a:t>Free</a:t>
                      </a:r>
                    </a:p>
                  </a:txBody>
                </a:tc>
              </a:tr>
              <a:tr h="0">
                <a:tc>
                  <a:txBody>
                    <a:bodyPr/>
                    <a:lstStyle/>
                    <a:p>
                      <a:pPr lvl="0" indent="0" marL="0">
                        <a:buNone/>
                      </a:pPr>
                      <a:r>
                        <a:rPr b="1"/>
                        <a:t>Tavily / Serper</a:t>
                      </a:r>
                    </a:p>
                  </a:txBody>
                </a:tc>
                <a:tc>
                  <a:txBody>
                    <a:bodyPr/>
                    <a:lstStyle/>
                    <a:p>
                      <a:pPr lvl="0" indent="0" marL="0">
                        <a:buNone/>
                      </a:pPr>
                      <a:r>
                        <a:rPr/>
                        <a:t>Web search</a:t>
                      </a:r>
                    </a:p>
                  </a:txBody>
                </a:tc>
                <a:tc>
                  <a:txBody>
                    <a:bodyPr/>
                    <a:lstStyle/>
                    <a:p>
                      <a:pPr lvl="0" indent="0" marL="0">
                        <a:buNone/>
                      </a:pPr>
                      <a:r>
                        <a:rPr/>
                        <a:t>Free–$30/mo</a:t>
                      </a:r>
                    </a:p>
                  </a:txBody>
                </a:tc>
              </a:tr>
              <a:tr h="0">
                <a:tc>
                  <a:txBody>
                    <a:bodyPr/>
                    <a:lstStyle/>
                    <a:p>
                      <a:pPr lvl="0" indent="0" marL="0">
                        <a:buNone/>
                      </a:pPr>
                      <a:r>
                        <a:rPr b="1"/>
                        <a:t>VLM (Claude/GPT-4o)</a:t>
                      </a:r>
                    </a:p>
                  </a:txBody>
                </a:tc>
                <a:tc>
                  <a:txBody>
                    <a:bodyPr/>
                    <a:lstStyle/>
                    <a:p>
                      <a:pPr lvl="0" indent="0" marL="0">
                        <a:buNone/>
                      </a:pPr>
                      <a:r>
                        <a:rPr/>
                        <a:t>Vision analysis on screenshots</a:t>
                      </a:r>
                    </a:p>
                  </a:txBody>
                </a:tc>
                <a:tc>
                  <a:txBody>
                    <a:bodyPr/>
                    <a:lstStyle/>
                    <a:p>
                      <a:pPr lvl="0" indent="0" marL="0">
                        <a:buNone/>
                      </a:pPr>
                      <a:r>
                        <a:rPr/>
                        <a:t>Included in LLM cost</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7.4 Generated Tech Stack</a:t>
            </a:r>
          </a:p>
          <a:p>
            <a:pPr lvl="0"/>
            <a:r>
              <a:rPr b="1"/>
              <a:t>Framework:</a:t>
            </a:r>
            <a:r>
              <a:rPr/>
              <a:t> Next.js 15 (App Router)</a:t>
            </a:r>
          </a:p>
          <a:p>
            <a:pPr lvl="0"/>
            <a:r>
              <a:rPr b="1"/>
              <a:t>Language:</a:t>
            </a:r>
            <a:r>
              <a:rPr/>
              <a:t> TypeScript</a:t>
            </a:r>
          </a:p>
          <a:p>
            <a:pPr lvl="0"/>
            <a:r>
              <a:rPr b="1"/>
              <a:t>Styling:</a:t>
            </a:r>
            <a:r>
              <a:rPr/>
              <a:t> Tailwind CSS 4</a:t>
            </a:r>
          </a:p>
          <a:p>
            <a:pPr lvl="0"/>
            <a:r>
              <a:rPr b="1"/>
              <a:t>Animation:</a:t>
            </a:r>
            <a:r>
              <a:rPr/>
              <a:t> GSAP + ScrollTrigger, Framer Motion, Lenis</a:t>
            </a:r>
          </a:p>
          <a:p>
            <a:pPr lvl="0"/>
            <a:r>
              <a:rPr b="1"/>
              <a:t>3D:</a:t>
            </a:r>
            <a:r>
              <a:rPr/>
              <a:t> Three.js + @react-three/fiber + @react-three/drei</a:t>
            </a:r>
          </a:p>
          <a:p>
            <a:pPr lvl="0"/>
            <a:r>
              <a:rPr b="1"/>
              <a:t>Fonts:</a:t>
            </a:r>
            <a:r>
              <a:rPr/>
              <a:t> Google Fonts</a:t>
            </a:r>
          </a:p>
          <a:p>
            <a:pPr lvl="0"/>
            <a:r>
              <a:rPr b="1"/>
              <a:t>Icons:</a:t>
            </a:r>
            <a:r>
              <a:rPr/>
              <a:t> Custom SVG system</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8. Competitive Advantages</a:t>
            </a:r>
          </a:p>
          <a:p>
            <a:pPr lvl="0" indent="0" marL="0">
              <a:spcBef>
                <a:spcPts val="3000"/>
              </a:spcBef>
              <a:buNone/>
            </a:pPr>
            <a:r>
              <a:rPr b="1"/>
              <a:t>8.1 Speed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679700"/>
                <a:gridCol w="2425700"/>
              </a:tblGrid>
              <a:tr h="0">
                <a:tc>
                  <a:txBody>
                    <a:bodyPr/>
                    <a:lstStyle/>
                    <a:p>
                      <a:pPr lvl="0" indent="0" marL="0">
                        <a:buNone/>
                      </a:pPr>
                      <a:r>
                        <a:rPr/>
                        <a:t>Traditional Redesign</a:t>
                      </a:r>
                    </a:p>
                  </a:txBody>
                  <a:tcPr/>
                </a:tc>
                <a:tc>
                  <a:txBody>
                    <a:bodyPr/>
                    <a:lstStyle/>
                    <a:p>
                      <a:pPr lvl="0" indent="0" marL="0">
                        <a:buNone/>
                      </a:pPr>
                      <a:r>
                        <a:rPr/>
                        <a:t>Frontend Pipeline</a:t>
                      </a:r>
                    </a:p>
                  </a:txBody>
                  <a:tcPr/>
                </a:tc>
              </a:tr>
              <a:tr h="0">
                <a:tc>
                  <a:txBody>
                    <a:bodyPr/>
                    <a:lstStyle/>
                    <a:p>
                      <a:pPr lvl="0" indent="0" marL="0">
                        <a:buNone/>
                      </a:pPr>
                      <a:r>
                        <a:rPr/>
                        <a:t>4–12 weeks</a:t>
                      </a:r>
                    </a:p>
                  </a:txBody>
                </a:tc>
                <a:tc>
                  <a:txBody>
                    <a:bodyPr/>
                    <a:lstStyle/>
                    <a:p>
                      <a:pPr lvl="0" indent="0" marL="0">
                        <a:buNone/>
                      </a:pPr>
                      <a:r>
                        <a:rPr/>
                        <a:t>15–30 minutes</a:t>
                      </a:r>
                    </a:p>
                  </a:txBody>
                </a:tc>
              </a:tr>
              <a:tr h="0">
                <a:tc>
                  <a:txBody>
                    <a:bodyPr/>
                    <a:lstStyle/>
                    <a:p>
                      <a:pPr lvl="0" indent="0" marL="0">
                        <a:buNone/>
                      </a:pPr>
                      <a:r>
                        <a:rPr/>
                        <a:t>Manual audit → research → design → code</a:t>
                      </a:r>
                    </a:p>
                  </a:txBody>
                </a:tc>
                <a:tc>
                  <a:txBody>
                    <a:bodyPr/>
                    <a:lstStyle/>
                    <a:p>
                      <a:pPr lvl="0" indent="0" marL="0">
                        <a:buNone/>
                      </a:pPr>
                      <a:r>
                        <a:rPr/>
                        <a:t>One command → complete delivery</a:t>
                      </a:r>
                    </a:p>
                  </a:txBody>
                </a:tc>
              </a:tr>
              <a:tr h="0">
                <a:tc>
                  <a:txBody>
                    <a:bodyPr/>
                    <a:lstStyle/>
                    <a:p>
                      <a:pPr lvl="0" indent="0" marL="0">
                        <a:buNone/>
                      </a:pPr>
                      <a:r>
                        <a:rPr/>
                        <a:t>Multiple specialist handoffs</a:t>
                      </a:r>
                    </a:p>
                  </a:txBody>
                </a:tc>
                <a:tc>
                  <a:txBody>
                    <a:bodyPr/>
                    <a:lstStyle/>
                    <a:p>
                      <a:pPr lvl="0" indent="0" marL="0">
                        <a:buNone/>
                      </a:pPr>
                      <a:r>
                        <a:rPr/>
                        <a:t>Parallel agent execution</a:t>
                      </a:r>
                    </a:p>
                  </a:txBody>
                </a:tc>
              </a:tr>
              <a:tr h="0">
                <a:tc>
                  <a:txBody>
                    <a:bodyPr/>
                    <a:lstStyle/>
                    <a:p>
                      <a:pPr lvl="0" indent="0" marL="0">
                        <a:buNone/>
                      </a:pPr>
                      <a:r>
                        <a:rPr/>
                        <a:t>Revision cycles measured in days</a:t>
                      </a:r>
                    </a:p>
                  </a:txBody>
                </a:tc>
                <a:tc>
                  <a:txBody>
                    <a:bodyPr/>
                    <a:lstStyle/>
                    <a:p>
                      <a:pPr lvl="0" indent="0" marL="0">
                        <a:buNone/>
                      </a:pPr>
                      <a:r>
                        <a:rPr/>
                        <a:t>QA rework loop measured in seconds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8.2 Consistency</a:t>
            </a:r>
          </a:p>
          <a:p>
            <a:pPr lvl="0"/>
            <a:r>
              <a:rPr/>
              <a:t>Every project follows the same quality gate (7-dimension QA)</a:t>
            </a:r>
          </a:p>
          <a:p>
            <a:pPr lvl="0"/>
            <a:r>
              <a:rPr/>
              <a:t>Design tokens are generated, not manually specified</a:t>
            </a:r>
          </a:p>
          <a:p>
            <a:pPr lvl="0"/>
            <a:r>
              <a:rPr/>
              <a:t>Animation specs are validated for scroll coherence and stagger timing</a:t>
            </a:r>
          </a:p>
          <a:p>
            <a:pPr lvl="0"/>
            <a:r>
              <a:rPr/>
              <a:t>Code passes </a:t>
            </a:r>
            <a:r>
              <a:rPr>
                <a:latin typeface="Courier"/>
              </a:rPr>
              <a:t>npm run build</a:t>
            </a:r>
            <a:r>
              <a:rPr/>
              <a:t> before delivery</a:t>
            </a:r>
          </a:p>
          <a:p>
            <a:pPr lvl="0" indent="0" marL="0">
              <a:spcBef>
                <a:spcPts val="3000"/>
              </a:spcBef>
              <a:buNone/>
            </a:pPr>
            <a:r>
              <a:rPr b="1"/>
              <a:t>8.3 Data-Driven</a:t>
            </a:r>
          </a:p>
          <a:p>
            <a:pPr lvl="0"/>
            <a:r>
              <a:rPr/>
              <a:t>SEO scores are measured, not guessed</a:t>
            </a:r>
          </a:p>
          <a:p>
            <a:pPr lvl="0"/>
            <a:r>
              <a:rPr/>
              <a:t>Lead scoring uses real business metrics (SEO, design, maturity, pain points)</a:t>
            </a:r>
          </a:p>
          <a:p>
            <a:pPr lvl="0"/>
            <a:r>
              <a:rPr/>
              <a:t>Brand research includes competitor analysis and audience profiling</a:t>
            </a:r>
          </a:p>
          <a:p>
            <a:pPr lvl="0"/>
            <a:r>
              <a:rPr/>
              <a:t>Creative direction is justified against brand and audience, not just aesthetics</a:t>
            </a:r>
          </a:p>
          <a:p>
            <a:pPr lvl="0" indent="0" marL="0">
              <a:spcBef>
                <a:spcPts val="3000"/>
              </a:spcBef>
              <a:buNone/>
            </a:pPr>
            <a:r>
              <a:rPr b="1"/>
              <a:t>8.4 Scalability</a:t>
            </a:r>
          </a:p>
          <a:p>
            <a:pPr lvl="0"/>
            <a:r>
              <a:rPr/>
              <a:t>Run 10 redesigns in the time it takes to complete one manually</a:t>
            </a:r>
          </a:p>
          <a:p>
            <a:pPr lvl="0"/>
            <a:r>
              <a:rPr/>
              <a:t>Parallel analysis phase means 3 agents work simultaneously</a:t>
            </a:r>
          </a:p>
          <a:p>
            <a:pPr lvl="0"/>
            <a:r>
              <a:rPr/>
              <a:t>Checkpointed state means crashes cost nothing</a:t>
            </a:r>
          </a:p>
          <a:p>
            <a:pPr lvl="0"/>
            <a:r>
              <a:rPr/>
              <a:t>Simulation mode allows testing without API costs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9. Implementation Requirements</a:t>
            </a:r>
          </a:p>
          <a:p>
            <a:pPr lvl="0" indent="0" marL="0">
              <a:spcBef>
                <a:spcPts val="3000"/>
              </a:spcBef>
              <a:buNone/>
            </a:pPr>
            <a:r>
              <a:rPr b="1"/>
              <a:t>9.1 Minimum Viable Setup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Requirement</a:t>
                      </a:r>
                    </a:p>
                  </a:txBody>
                  <a:tcPr/>
                </a:tc>
                <a:tc>
                  <a:txBody>
                    <a:bodyPr/>
                    <a:lstStyle/>
                    <a:p>
                      <a:pPr lvl="0" indent="0" marL="0">
                        <a:buNone/>
                      </a:pPr>
                      <a:r>
                        <a:rPr/>
                        <a:t>Value</a:t>
                      </a:r>
                    </a:p>
                  </a:txBody>
                  <a:tcPr/>
                </a:tc>
              </a:tr>
              <a:tr h="0">
                <a:tc>
                  <a:txBody>
                    <a:bodyPr/>
                    <a:lstStyle/>
                    <a:p>
                      <a:pPr lvl="0" indent="0" marL="0">
                        <a:buNone/>
                      </a:pPr>
                      <a:r>
                        <a:rPr/>
                        <a:t>Python</a:t>
                      </a:r>
                    </a:p>
                  </a:txBody>
                </a:tc>
                <a:tc>
                  <a:txBody>
                    <a:bodyPr/>
                    <a:lstStyle/>
                    <a:p>
                      <a:pPr lvl="0" indent="0" marL="0">
                        <a:buNone/>
                      </a:pPr>
                      <a:r>
                        <a:rPr/>
                        <a:t>3.10+</a:t>
                      </a:r>
                    </a:p>
                  </a:txBody>
                </a:tc>
              </a:tr>
              <a:tr h="0">
                <a:tc>
                  <a:txBody>
                    <a:bodyPr/>
                    <a:lstStyle/>
                    <a:p>
                      <a:pPr lvl="0" indent="0" marL="0">
                        <a:buNone/>
                      </a:pPr>
                      <a:r>
                        <a:rPr/>
                        <a:t>Node.js</a:t>
                      </a:r>
                    </a:p>
                  </a:txBody>
                </a:tc>
                <a:tc>
                  <a:txBody>
                    <a:bodyPr/>
                    <a:lstStyle/>
                    <a:p>
                      <a:pPr lvl="0" indent="0" marL="0">
                        <a:buNone/>
                      </a:pPr>
                      <a:r>
                        <a:rPr/>
                        <a:t>18+</a:t>
                      </a:r>
                    </a:p>
                  </a:txBody>
                </a:tc>
              </a:tr>
              <a:tr h="0">
                <a:tc>
                  <a:txBody>
                    <a:bodyPr/>
                    <a:lstStyle/>
                    <a:p>
                      <a:pPr lvl="0" indent="0" marL="0">
                        <a:buNone/>
                      </a:pPr>
                      <a:r>
                        <a:rPr/>
                        <a:t>LLM Provider</a:t>
                      </a:r>
                    </a:p>
                  </a:txBody>
                </a:tc>
                <a:tc>
                  <a:txBody>
                    <a:bodyPr/>
                    <a:lstStyle/>
                    <a:p>
                      <a:pPr lvl="0" indent="0" marL="0">
                        <a:buNone/>
                      </a:pPr>
                      <a:r>
                        <a:rPr/>
                        <a:t>Anthropic</a:t>
                      </a:r>
                    </a:p>
                  </a:txBody>
                </a:tc>
              </a:tr>
              <a:tr h="0">
                <a:tc>
                  <a:txBody>
                    <a:bodyPr/>
                    <a:lstStyle/>
                    <a:p>
                      <a:pPr lvl="0" indent="0" marL="0">
                        <a:buNone/>
                      </a:pPr>
                      <a:r>
                        <a:rPr/>
                        <a:t>Model</a:t>
                      </a:r>
                    </a:p>
                  </a:txBody>
                </a:tc>
                <a:tc>
                  <a:txBody>
                    <a:bodyPr/>
                    <a:lstStyle/>
                    <a:p>
                      <a:pPr lvl="0" indent="0" marL="0">
                        <a:buNone/>
                      </a:pPr>
                      <a:r>
                        <a:rPr/>
                        <a:t>claude-sonnet-5 + claude-haiku-4.5</a:t>
                      </a:r>
                    </a:p>
                  </a:txBody>
                </a:tc>
              </a:tr>
              <a:tr h="0">
                <a:tc>
                  <a:txBody>
                    <a:bodyPr/>
                    <a:lstStyle/>
                    <a:p>
                      <a:pPr lvl="0" indent="0" marL="0">
                        <a:buNone/>
                      </a:pPr>
                      <a:r>
                        <a:rPr/>
                        <a:t>Vision</a:t>
                      </a:r>
                    </a:p>
                  </a:txBody>
                </a:tc>
                <a:tc>
                  <a:txBody>
                    <a:bodyPr/>
                    <a:lstStyle/>
                    <a:p>
                      <a:pPr lvl="0" indent="0" marL="0">
                        <a:buNone/>
                      </a:pPr>
                      <a:r>
                        <a:rPr/>
                        <a:t>anthropic</a:t>
                      </a:r>
                    </a:p>
                  </a:txBody>
                </a:tc>
              </a:tr>
              <a:tr h="0">
                <a:tc>
                  <a:txBody>
                    <a:bodyPr/>
                    <a:lstStyle/>
                    <a:p>
                      <a:pPr lvl="0" indent="0" marL="0">
                        <a:buNone/>
                      </a:pPr>
                      <a:r>
                        <a:rPr/>
                        <a:t>Search</a:t>
                      </a:r>
                    </a:p>
                  </a:txBody>
                </a:tc>
                <a:tc>
                  <a:txBody>
                    <a:bodyPr/>
                    <a:lstStyle/>
                    <a:p>
                      <a:pPr lvl="0" indent="0" marL="0">
                        <a:buNone/>
                      </a:pPr>
                      <a:r>
                        <a:rPr/>
                        <a:t>tavily (free tier)</a:t>
                      </a:r>
                    </a:p>
                  </a:txBody>
                </a:tc>
              </a:tr>
              <a:tr h="0">
                <a:tc>
                  <a:txBody>
                    <a:bodyPr/>
                    <a:lstStyle/>
                    <a:p>
                      <a:pPr lvl="0" indent="0" marL="0">
                        <a:buNone/>
                      </a:pPr>
                      <a:r>
                        <a:rPr/>
                        <a:t>Playwright</a:t>
                      </a:r>
                    </a:p>
                  </a:txBody>
                </a:tc>
                <a:tc>
                  <a:txBody>
                    <a:bodyPr/>
                    <a:lstStyle/>
                    <a:p>
                      <a:pPr lvl="0" indent="0" marL="0">
                        <a:buNone/>
                      </a:pPr>
                      <a:r>
                        <a:rPr/>
                        <a:t>Installed (</a:t>
                      </a:r>
                      <a:r>
                        <a:rPr>
                          <a:latin typeface="Courier"/>
                        </a:rPr>
                        <a:t>playwright install</a:t>
                      </a:r>
                      <a:r>
                        <a:rPr/>
                        <a:t>)</a:t>
                      </a:r>
                    </a:p>
                  </a:txBody>
                </a:tc>
              </a:tr>
              <a:tr h="0">
                <a:tc>
                  <a:txBody>
                    <a:bodyPr/>
                    <a:lstStyle/>
                    <a:p>
                      <a:pPr lvl="0" indent="0" marL="0">
                        <a:buNone/>
                      </a:pPr>
                      <a:r>
                        <a:rPr/>
                        <a:t>Database</a:t>
                      </a:r>
                    </a:p>
                  </a:txBody>
                </a:tc>
                <a:tc>
                  <a:txBody>
                    <a:bodyPr/>
                    <a:lstStyle/>
                    <a:p>
                      <a:pPr lvl="0" indent="0" marL="0">
                        <a:buNone/>
                      </a:pPr>
                      <a:r>
                        <a:rPr/>
                        <a:t>PostgreSQL (local or managed)</a:t>
                      </a:r>
                    </a:p>
                  </a:txBody>
                </a:tc>
              </a:tr>
              <a:tr h="0">
                <a:tc>
                  <a:txBody>
                    <a:bodyPr/>
                    <a:lstStyle/>
                    <a:p>
                      <a:pPr lvl="0" indent="0" marL="0">
                        <a:buNone/>
                      </a:pPr>
                      <a:r>
                        <a:rPr/>
                        <a:t>Cache</a:t>
                      </a:r>
                    </a:p>
                  </a:txBody>
                </a:tc>
                <a:tc>
                  <a:txBody>
                    <a:bodyPr/>
                    <a:lstStyle/>
                    <a:p>
                      <a:pPr lvl="0" indent="0" marL="0">
                        <a:buNone/>
                      </a:pPr>
                      <a:r>
                        <a:rPr/>
                        <a:t>Redis (local or managed)</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9.2 Environment Variables</a:t>
            </a:r>
          </a:p>
          <a:p>
            <a:pPr lvl="0" indent="0">
              <a:buNone/>
            </a:pPr>
            <a:r>
              <a:rPr>
                <a:solidFill>
                  <a:srgbClr val="19177C"/>
                </a:solidFill>
                <a:latin typeface="Courier"/>
              </a:rPr>
              <a:t>LLM_PROVIDER</a:t>
            </a:r>
            <a:r>
              <a:rPr>
                <a:solidFill>
                  <a:srgbClr val="666666"/>
                </a:solidFill>
                <a:latin typeface="Courier"/>
              </a:rPr>
              <a:t>=</a:t>
            </a:r>
            <a:r>
              <a:rPr>
                <a:latin typeface="Courier"/>
              </a:rPr>
              <a:t>anthropic</a:t>
            </a:r>
            <a:br/>
            <a:r>
              <a:rPr>
                <a:solidFill>
                  <a:srgbClr val="19177C"/>
                </a:solidFill>
                <a:latin typeface="Courier"/>
              </a:rPr>
              <a:t>ANTHROPIC_API_KEY</a:t>
            </a:r>
            <a:r>
              <a:rPr>
                <a:solidFill>
                  <a:srgbClr val="666666"/>
                </a:solidFill>
                <a:latin typeface="Courier"/>
              </a:rPr>
              <a:t>=</a:t>
            </a:r>
            <a:r>
              <a:rPr>
                <a:latin typeface="Courier"/>
              </a:rPr>
              <a:t>sk-ant-your-key-here</a:t>
            </a:r>
            <a:br/>
            <a:r>
              <a:rPr>
                <a:solidFill>
                  <a:srgbClr val="19177C"/>
                </a:solidFill>
                <a:latin typeface="Courier"/>
              </a:rPr>
              <a:t>VISION_PROVIDER</a:t>
            </a:r>
            <a:r>
              <a:rPr>
                <a:solidFill>
                  <a:srgbClr val="666666"/>
                </a:solidFill>
                <a:latin typeface="Courier"/>
              </a:rPr>
              <a:t>=</a:t>
            </a:r>
            <a:r>
              <a:rPr>
                <a:latin typeface="Courier"/>
              </a:rPr>
              <a:t>anthropic</a:t>
            </a:r>
            <a:br/>
            <a:r>
              <a:rPr>
                <a:solidFill>
                  <a:srgbClr val="19177C"/>
                </a:solidFill>
                <a:latin typeface="Courier"/>
              </a:rPr>
              <a:t>SEARCH_PROVIDER</a:t>
            </a:r>
            <a:r>
              <a:rPr>
                <a:solidFill>
                  <a:srgbClr val="666666"/>
                </a:solidFill>
                <a:latin typeface="Courier"/>
              </a:rPr>
              <a:t>=</a:t>
            </a:r>
            <a:r>
              <a:rPr>
                <a:latin typeface="Courier"/>
              </a:rPr>
              <a:t>tavily</a:t>
            </a:r>
            <a:br/>
            <a:r>
              <a:rPr>
                <a:solidFill>
                  <a:srgbClr val="19177C"/>
                </a:solidFill>
                <a:latin typeface="Courier"/>
              </a:rPr>
              <a:t>SEARCH_API_KEY</a:t>
            </a:r>
            <a:r>
              <a:rPr>
                <a:solidFill>
                  <a:srgbClr val="666666"/>
                </a:solidFill>
                <a:latin typeface="Courier"/>
              </a:rPr>
              <a:t>=</a:t>
            </a:r>
            <a:r>
              <a:rPr>
                <a:latin typeface="Courier"/>
              </a:rPr>
              <a:t>tvly-your-key-here</a:t>
            </a:r>
            <a:br/>
            <a:r>
              <a:rPr>
                <a:solidFill>
                  <a:srgbClr val="19177C"/>
                </a:solidFill>
                <a:latin typeface="Courier"/>
              </a:rPr>
              <a:t>HUMAN_APPROVAL_ENABLED</a:t>
            </a:r>
            <a:r>
              <a:rPr>
                <a:solidFill>
                  <a:srgbClr val="666666"/>
                </a:solidFill>
                <a:latin typeface="Courier"/>
              </a:rPr>
              <a:t>=</a:t>
            </a:r>
            <a:r>
              <a:rPr>
                <a:latin typeface="Courier"/>
              </a:rPr>
              <a:t>false</a:t>
            </a:r>
            <a:br/>
            <a:r>
              <a:rPr>
                <a:solidFill>
                  <a:srgbClr val="19177C"/>
                </a:solidFill>
                <a:latin typeface="Courier"/>
              </a:rPr>
              <a:t>MAX_QA_RETRIES</a:t>
            </a:r>
            <a:r>
              <a:rPr>
                <a:solidFill>
                  <a:srgbClr val="666666"/>
                </a:solidFill>
                <a:latin typeface="Courier"/>
              </a:rPr>
              <a:t>=</a:t>
            </a:r>
            <a:r>
              <a:rPr>
                <a:latin typeface="Courier"/>
              </a:rPr>
              <a:t>3</a:t>
            </a:r>
            <a:br/>
            <a:r>
              <a:rPr>
                <a:solidFill>
                  <a:srgbClr val="19177C"/>
                </a:solidFill>
                <a:latin typeface="Courier"/>
              </a:rPr>
              <a:t>PARALLEL_EXECUTION</a:t>
            </a:r>
            <a:r>
              <a:rPr>
                <a:solidFill>
                  <a:srgbClr val="666666"/>
                </a:solidFill>
                <a:latin typeface="Courier"/>
              </a:rPr>
              <a:t>=</a:t>
            </a:r>
            <a:r>
              <a:rPr>
                <a:latin typeface="Courier"/>
              </a:rPr>
              <a:t>true</a:t>
            </a:r>
          </a:p>
          <a:p>
            <a:pPr lvl="0" indent="0" marL="0">
              <a:spcBef>
                <a:spcPts val="3000"/>
              </a:spcBef>
              <a:buNone/>
            </a:pPr>
            <a:r>
              <a:rPr b="1"/>
              <a:t>9.3 Quick Start</a:t>
            </a:r>
          </a:p>
          <a:p>
            <a:pPr lvl="0" indent="0">
              <a:buNone/>
            </a:pPr>
            <a:r>
              <a:rPr>
                <a:solidFill>
                  <a:srgbClr val="06287E"/>
                </a:solidFill>
                <a:latin typeface="Courier"/>
              </a:rPr>
              <a:t>git</a:t>
            </a:r>
            <a:r>
              <a:rPr>
                <a:latin typeface="Courier"/>
              </a:rPr>
              <a:t> clone </a:t>
            </a:r>
            <a:r>
              <a:rPr>
                <a:solidFill>
                  <a:srgbClr val="666666"/>
                </a:solidFill>
                <a:latin typeface="Courier"/>
              </a:rPr>
              <a:t>&lt;</a:t>
            </a:r>
            <a:r>
              <a:rPr>
                <a:latin typeface="Courier"/>
              </a:rPr>
              <a:t>repo</a:t>
            </a:r>
            <a:r>
              <a:rPr>
                <a:solidFill>
                  <a:srgbClr val="666666"/>
                </a:solidFill>
                <a:latin typeface="Courier"/>
              </a:rPr>
              <a:t>&gt;</a:t>
            </a:r>
            <a:br/>
            <a:r>
              <a:rPr>
                <a:solidFill>
                  <a:srgbClr val="008000"/>
                </a:solidFill>
                <a:latin typeface="Courier"/>
              </a:rPr>
              <a:t>cd</a:t>
            </a:r>
            <a:r>
              <a:rPr>
                <a:latin typeface="Courier"/>
              </a:rPr>
              <a:t> </a:t>
            </a:r>
            <a:r>
              <a:rPr>
                <a:solidFill>
                  <a:srgbClr val="4070A0"/>
                </a:solidFill>
                <a:latin typeface="Courier"/>
              </a:rPr>
              <a:t>"Frontend Pipeline"</a:t>
            </a:r>
            <a:br/>
            <a:r>
              <a:rPr>
                <a:latin typeface="Courier"/>
              </a:rPr>
              <a:t>python </a:t>
            </a:r>
            <a:r>
              <a:rPr>
                <a:solidFill>
                  <a:srgbClr val="7D9029"/>
                </a:solidFill>
                <a:latin typeface="Courier"/>
              </a:rPr>
              <a:t>-m</a:t>
            </a:r>
            <a:r>
              <a:rPr>
                <a:latin typeface="Courier"/>
              </a:rPr>
              <a:t> venv .venv </a:t>
            </a:r>
            <a:r>
              <a:rPr b="1">
                <a:solidFill>
                  <a:srgbClr val="007020"/>
                </a:solidFill>
                <a:latin typeface="Courier"/>
              </a:rPr>
              <a:t>&amp;&amp;</a:t>
            </a:r>
            <a:r>
              <a:rPr>
                <a:latin typeface="Courier"/>
              </a:rPr>
              <a:t> </a:t>
            </a:r>
            <a:r>
              <a:rPr>
                <a:solidFill>
                  <a:srgbClr val="008000"/>
                </a:solidFill>
                <a:latin typeface="Courier"/>
              </a:rPr>
              <a:t>source</a:t>
            </a:r>
            <a:r>
              <a:rPr>
                <a:latin typeface="Courier"/>
              </a:rPr>
              <a:t> .venv/bin/activate</a:t>
            </a:r>
            <a:br/>
            <a:r>
              <a:rPr>
                <a:latin typeface="Courier"/>
              </a:rPr>
              <a:t>pip install </a:t>
            </a:r>
            <a:r>
              <a:rPr>
                <a:solidFill>
                  <a:srgbClr val="7D9029"/>
                </a:solidFill>
                <a:latin typeface="Courier"/>
              </a:rPr>
              <a:t>-r</a:t>
            </a:r>
            <a:r>
              <a:rPr>
                <a:latin typeface="Courier"/>
              </a:rPr>
              <a:t> requirements.txt</a:t>
            </a:r>
            <a:br/>
            <a:r>
              <a:rPr>
                <a:latin typeface="Courier"/>
              </a:rPr>
              <a:t>playwright install chromium</a:t>
            </a:r>
            <a:br/>
            <a:br/>
            <a:r>
              <a:rPr i="1">
                <a:solidFill>
                  <a:srgbClr val="60A0B0"/>
                </a:solidFill>
                <a:latin typeface="Courier"/>
              </a:rPr>
              <a:t># Simulation (no API keys)</a:t>
            </a:r>
            <a:br/>
            <a:r>
              <a:rPr>
                <a:latin typeface="Courier"/>
              </a:rPr>
              <a:t>python scripts/run_pipeline.py </a:t>
            </a:r>
            <a:r>
              <a:rPr>
                <a:solidFill>
                  <a:srgbClr val="4070A0"/>
                </a:solidFill>
                <a:latin typeface="Courier"/>
              </a:rPr>
              <a:t>"Redesign https://example.com into a cinematic site"</a:t>
            </a:r>
            <a:br/>
            <a:br/>
            <a:r>
              <a:rPr i="1">
                <a:solidFill>
                  <a:srgbClr val="60A0B0"/>
                </a:solidFill>
                <a:latin typeface="Courier"/>
              </a:rPr>
              <a:t># Production</a:t>
            </a:r>
            <a:br/>
            <a:r>
              <a:rPr>
                <a:solidFill>
                  <a:srgbClr val="008000"/>
                </a:solidFill>
                <a:latin typeface="Courier"/>
              </a:rPr>
              <a:t>export</a:t>
            </a:r>
            <a:r>
              <a:rPr>
                <a:latin typeface="Courier"/>
              </a:rPr>
              <a:t> </a:t>
            </a:r>
            <a:r>
              <a:rPr>
                <a:solidFill>
                  <a:srgbClr val="19177C"/>
                </a:solidFill>
                <a:latin typeface="Courier"/>
              </a:rPr>
              <a:t>LLM_PROVIDER</a:t>
            </a:r>
            <a:r>
              <a:rPr>
                <a:solidFill>
                  <a:srgbClr val="666666"/>
                </a:solidFill>
                <a:latin typeface="Courier"/>
              </a:rPr>
              <a:t>=</a:t>
            </a:r>
            <a:r>
              <a:rPr>
                <a:latin typeface="Courier"/>
              </a:rPr>
              <a:t>anthropic</a:t>
            </a:r>
            <a:br/>
            <a:r>
              <a:rPr>
                <a:solidFill>
                  <a:srgbClr val="008000"/>
                </a:solidFill>
                <a:latin typeface="Courier"/>
              </a:rPr>
              <a:t>export</a:t>
            </a:r>
            <a:r>
              <a:rPr>
                <a:latin typeface="Courier"/>
              </a:rPr>
              <a:t> </a:t>
            </a:r>
            <a:r>
              <a:rPr>
                <a:solidFill>
                  <a:srgbClr val="19177C"/>
                </a:solidFill>
                <a:latin typeface="Courier"/>
              </a:rPr>
              <a:t>ANTHROPIC_API_KEY</a:t>
            </a:r>
            <a:r>
              <a:rPr>
                <a:solidFill>
                  <a:srgbClr val="666666"/>
                </a:solidFill>
                <a:latin typeface="Courier"/>
              </a:rPr>
              <a:t>=</a:t>
            </a:r>
            <a:r>
              <a:rPr>
                <a:latin typeface="Courier"/>
              </a:rPr>
              <a:t>sk-ant-...</a:t>
            </a:r>
            <a:br/>
            <a:r>
              <a:rPr>
                <a:latin typeface="Courier"/>
              </a:rPr>
              <a:t>python scripts/run_pipeline.py </a:t>
            </a:r>
            <a:r>
              <a:rPr>
                <a:solidFill>
                  <a:srgbClr val="4070A0"/>
                </a:solidFill>
                <a:latin typeface="Courier"/>
              </a:rPr>
              <a:t>"Redesign https://example.com into a cinematic site"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10. Pricing Model for Client Delivery</a:t>
            </a:r>
          </a:p>
          <a:p>
            <a:pPr lvl="0" indent="0" marL="0">
              <a:spcBef>
                <a:spcPts val="3000"/>
              </a:spcBef>
              <a:buNone/>
            </a:pPr>
            <a:r>
              <a:rPr b="1"/>
              <a:t>10.1 Service Tiers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98500"/>
                <a:gridCol w="1511300"/>
                <a:gridCol w="1511300"/>
                <a:gridCol w="1397000"/>
              </a:tblGrid>
              <a:tr h="0">
                <a:tc>
                  <a:txBody>
                    <a:bodyPr/>
                    <a:lstStyle/>
                    <a:p>
                      <a:pPr lvl="0" indent="0" marL="0">
                        <a:buNone/>
                      </a:pPr>
                      <a:r>
                        <a:rPr/>
                        <a:t>Tier</a:t>
                      </a:r>
                    </a:p>
                  </a:txBody>
                  <a:tcPr/>
                </a:tc>
                <a:tc>
                  <a:txBody>
                    <a:bodyPr/>
                    <a:lstStyle/>
                    <a:p>
                      <a:pPr lvl="0" indent="0" marL="0">
                        <a:buNone/>
                      </a:pPr>
                      <a:r>
                        <a:rPr/>
                        <a:t>Deliverable</a:t>
                      </a:r>
                    </a:p>
                  </a:txBody>
                  <a:tcPr/>
                </a:tc>
                <a:tc>
                  <a:txBody>
                    <a:bodyPr/>
                    <a:lstStyle/>
                    <a:p>
                      <a:pPr lvl="0" indent="0" marL="0">
                        <a:buNone/>
                      </a:pPr>
                      <a:r>
                        <a:rPr/>
                        <a:t>Price Range</a:t>
                      </a:r>
                    </a:p>
                  </a:txBody>
                  <a:tcPr/>
                </a:tc>
                <a:tc>
                  <a:txBody>
                    <a:bodyPr/>
                    <a:lstStyle/>
                    <a:p>
                      <a:pPr lvl="0" indent="0" marL="0">
                        <a:buNone/>
                      </a:pPr>
                      <a:r>
                        <a:rPr/>
                        <a:t>Turnaround</a:t>
                      </a:r>
                    </a:p>
                  </a:txBody>
                  <a:tcPr/>
                </a:tc>
              </a:tr>
              <a:tr h="0">
                <a:tc>
                  <a:txBody>
                    <a:bodyPr/>
                    <a:lstStyle/>
                    <a:p>
                      <a:pPr lvl="0" indent="0" marL="0">
                        <a:buNone/>
                      </a:pPr>
                      <a:r>
                        <a:rPr b="1"/>
                        <a:t>Audit</a:t>
                      </a:r>
                    </a:p>
                  </a:txBody>
                </a:tc>
                <a:tc>
                  <a:txBody>
                    <a:bodyPr/>
                    <a:lstStyle/>
                    <a:p>
                      <a:pPr lvl="0" indent="0" marL="0">
                        <a:buNone/>
                      </a:pPr>
                      <a:r>
                        <a:rPr/>
                        <a:t>Website analysis + SEO report + Brand DNA + Lead report</a:t>
                      </a:r>
                    </a:p>
                  </a:txBody>
                </a:tc>
                <a:tc>
                  <a:txBody>
                    <a:bodyPr/>
                    <a:lstStyle/>
                    <a:p>
                      <a:pPr lvl="0" indent="0" marL="0">
                        <a:buNone/>
                      </a:pPr>
                      <a:r>
                        <a:rPr/>
                        <a:t>$2,000–$5,000</a:t>
                      </a:r>
                    </a:p>
                  </a:txBody>
                </a:tc>
                <a:tc>
                  <a:txBody>
                    <a:bodyPr/>
                    <a:lstStyle/>
                    <a:p>
                      <a:pPr lvl="0" indent="0" marL="0">
                        <a:buNone/>
                      </a:pPr>
                      <a:r>
                        <a:rPr/>
                        <a:t>1 hour</a:t>
                      </a:r>
                    </a:p>
                  </a:txBody>
                </a:tc>
              </a:tr>
              <a:tr h="0">
                <a:tc>
                  <a:txBody>
                    <a:bodyPr/>
                    <a:lstStyle/>
                    <a:p>
                      <a:pPr lvl="0" indent="0" marL="0">
                        <a:buNone/>
                      </a:pPr>
                      <a:r>
                        <a:rPr b="1"/>
                        <a:t>Proposal</a:t>
                      </a:r>
                    </a:p>
                  </a:txBody>
                </a:tc>
                <a:tc>
                  <a:txBody>
                    <a:bodyPr/>
                    <a:lstStyle/>
                    <a:p>
                      <a:pPr lvl="0" indent="0" marL="0">
                        <a:buNone/>
                      </a:pPr>
                      <a:r>
                        <a:rPr/>
                        <a:t>Audit + Creative direction + UX/UI specs + Motion design + Engineering estimate</a:t>
                      </a:r>
                    </a:p>
                  </a:txBody>
                </a:tc>
                <a:tc>
                  <a:txBody>
                    <a:bodyPr/>
                    <a:lstStyle/>
                    <a:p>
                      <a:pPr lvl="0" indent="0" marL="0">
                        <a:buNone/>
                      </a:pPr>
                      <a:r>
                        <a:rPr/>
                        <a:t>$10,000–$25,000</a:t>
                      </a:r>
                    </a:p>
                  </a:txBody>
                </a:tc>
                <a:tc>
                  <a:txBody>
                    <a:bodyPr/>
                    <a:lstStyle/>
                    <a:p>
                      <a:pPr lvl="0" indent="0" marL="0">
                        <a:buNone/>
                      </a:pPr>
                      <a:r>
                        <a:rPr/>
                        <a:t>2–4 hours</a:t>
                      </a:r>
                    </a:p>
                  </a:txBody>
                </a:tc>
              </a:tr>
              <a:tr h="0">
                <a:tc>
                  <a:txBody>
                    <a:bodyPr/>
                    <a:lstStyle/>
                    <a:p>
                      <a:pPr lvl="0" indent="0" marL="0">
                        <a:buNone/>
                      </a:pPr>
                      <a:r>
                        <a:rPr b="1"/>
                        <a:t>Full Redesign</a:t>
                      </a:r>
                    </a:p>
                  </a:txBody>
                </a:tc>
                <a:tc>
                  <a:txBody>
                    <a:bodyPr/>
                    <a:lstStyle/>
                    <a:p>
                      <a:pPr lvl="0" indent="0" marL="0">
                        <a:buNone/>
                      </a:pPr>
                      <a:r>
                        <a:rPr/>
                        <a:t>Production-ready Next.js project + all reports + QA gate</a:t>
                      </a:r>
                    </a:p>
                  </a:txBody>
                </a:tc>
                <a:tc>
                  <a:txBody>
                    <a:bodyPr/>
                    <a:lstStyle/>
                    <a:p>
                      <a:pPr lvl="0" indent="0" marL="0">
                        <a:buNone/>
                      </a:pPr>
                      <a:r>
                        <a:rPr/>
                        <a:t>$25,000–$75,000</a:t>
                      </a:r>
                    </a:p>
                  </a:txBody>
                </a:tc>
                <a:tc>
                  <a:txBody>
                    <a:bodyPr/>
                    <a:lstStyle/>
                    <a:p>
                      <a:pPr lvl="0" indent="0" marL="0">
                        <a:buNone/>
                      </a:pPr>
                      <a:r>
                        <a:rPr/>
                        <a:t>4–8 hours</a:t>
                      </a:r>
                    </a:p>
                  </a:txBody>
                </a:tc>
              </a:tr>
              <a:tr h="0">
                <a:tc>
                  <a:txBody>
                    <a:bodyPr/>
                    <a:lstStyle/>
                    <a:p>
                      <a:pPr lvl="0" indent="0" marL="0">
                        <a:buNone/>
                      </a:pPr>
                      <a:r>
                        <a:rPr b="1"/>
                        <a:t>Retainer</a:t>
                      </a:r>
                    </a:p>
                  </a:txBody>
                </a:tc>
                <a:tc>
                  <a:txBody>
                    <a:bodyPr/>
                    <a:lstStyle/>
                    <a:p>
                      <a:pPr lvl="0" indent="0" marL="0">
                        <a:buNone/>
                      </a:pPr>
                      <a:r>
                        <a:rPr/>
                        <a:t>Monthly optimization + new page builds + A/B variants</a:t>
                      </a:r>
                    </a:p>
                  </a:txBody>
                </a:tc>
                <a:tc>
                  <a:txBody>
                    <a:bodyPr/>
                    <a:lstStyle/>
                    <a:p>
                      <a:pPr lvl="0" indent="0" marL="0">
                        <a:buNone/>
                      </a:pPr>
                      <a:r>
                        <a:rPr/>
                        <a:t>$2,000–$5,000/mo</a:t>
                      </a:r>
                    </a:p>
                  </a:txBody>
                </a:tc>
                <a:tc>
                  <a:txBody>
                    <a:bodyPr/>
                    <a:lstStyle/>
                    <a:p>
                      <a:pPr lvl="0" indent="0" marL="0">
                        <a:buNone/>
                      </a:pPr>
                      <a:r>
                        <a:rPr/>
                        <a:t>Ongoing</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10.2 Margin Analysis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31800"/>
                <a:gridCol w="927100"/>
                <a:gridCol w="1066800"/>
                <a:gridCol w="2133600"/>
                <a:gridCol w="571500"/>
              </a:tblGrid>
              <a:tr h="0">
                <a:tc>
                  <a:txBody>
                    <a:bodyPr/>
                    <a:lstStyle/>
                    <a:p>
                      <a:pPr lvl="0" indent="0" marL="0">
                        <a:buNone/>
                      </a:pPr>
                      <a:r>
                        <a:rPr/>
                        <a:t>Tier</a:t>
                      </a:r>
                    </a:p>
                  </a:txBody>
                  <a:tcPr/>
                </a:tc>
                <a:tc>
                  <a:txBody>
                    <a:bodyPr/>
                    <a:lstStyle/>
                    <a:p>
                      <a:pPr lvl="0" indent="0" marL="0">
                        <a:buNone/>
                      </a:pPr>
                      <a:r>
                        <a:rPr/>
                        <a:t>Client Price</a:t>
                      </a:r>
                    </a:p>
                  </a:txBody>
                  <a:tcPr/>
                </a:tc>
                <a:tc>
                  <a:txBody>
                    <a:bodyPr/>
                    <a:lstStyle/>
                    <a:p>
                      <a:pPr lvl="0" indent="0" marL="0">
                        <a:buNone/>
                      </a:pPr>
                      <a:r>
                        <a:rPr/>
                        <a:t>Pipeline Cost</a:t>
                      </a:r>
                    </a:p>
                  </a:txBody>
                  <a:tcPr/>
                </a:tc>
                <a:tc>
                  <a:txBody>
                    <a:bodyPr/>
                    <a:lstStyle/>
                    <a:p>
                      <a:pPr lvl="0" indent="0" marL="0">
                        <a:buNone/>
                      </a:pPr>
                      <a:r>
                        <a:rPr/>
                        <a:t>Firm Cost (labor + overhead)</a:t>
                      </a:r>
                    </a:p>
                  </a:txBody>
                  <a:tcPr/>
                </a:tc>
                <a:tc>
                  <a:txBody>
                    <a:bodyPr/>
                    <a:lstStyle/>
                    <a:p>
                      <a:pPr lvl="0" indent="0" marL="0">
                        <a:buNone/>
                      </a:pPr>
                      <a:r>
                        <a:rPr/>
                        <a:t>Margin</a:t>
                      </a:r>
                    </a:p>
                  </a:txBody>
                  <a:tcPr/>
                </a:tc>
              </a:tr>
              <a:tr h="0">
                <a:tc>
                  <a:txBody>
                    <a:bodyPr/>
                    <a:lstStyle/>
                    <a:p>
                      <a:pPr lvl="0" indent="0" marL="0">
                        <a:buNone/>
                      </a:pPr>
                      <a:r>
                        <a:rPr/>
                        <a:t>Audit</a:t>
                      </a:r>
                    </a:p>
                  </a:txBody>
                </a:tc>
                <a:tc>
                  <a:txBody>
                    <a:bodyPr/>
                    <a:lstStyle/>
                    <a:p>
                      <a:pPr lvl="0" indent="0" marL="0">
                        <a:buNone/>
                      </a:pPr>
                      <a:r>
                        <a:rPr/>
                        <a:t>$3,500</a:t>
                      </a:r>
                    </a:p>
                  </a:txBody>
                </a:tc>
                <a:tc>
                  <a:txBody>
                    <a:bodyPr/>
                    <a:lstStyle/>
                    <a:p>
                      <a:pPr lvl="0" indent="0" marL="0">
                        <a:buNone/>
                      </a:pPr>
                      <a:r>
                        <a:rPr/>
                        <a:t>$1.00</a:t>
                      </a:r>
                    </a:p>
                  </a:txBody>
                </a:tc>
                <a:tc>
                  <a:txBody>
                    <a:bodyPr/>
                    <a:lstStyle/>
                    <a:p>
                      <a:pPr lvl="0" indent="0" marL="0">
                        <a:buNone/>
                      </a:pPr>
                      <a:r>
                        <a:rPr/>
                        <a:t>$200 (1 hour PM)</a:t>
                      </a:r>
                    </a:p>
                  </a:txBody>
                </a:tc>
                <a:tc>
                  <a:txBody>
                    <a:bodyPr/>
                    <a:lstStyle/>
                    <a:p>
                      <a:pPr lvl="0" indent="0" marL="0">
                        <a:buNone/>
                      </a:pPr>
                      <a:r>
                        <a:rPr/>
                        <a:t>94%</a:t>
                      </a:r>
                    </a:p>
                  </a:txBody>
                </a:tc>
              </a:tr>
              <a:tr h="0">
                <a:tc>
                  <a:txBody>
                    <a:bodyPr/>
                    <a:lstStyle/>
                    <a:p>
                      <a:pPr lvl="0" indent="0" marL="0">
                        <a:buNone/>
                      </a:pPr>
                      <a:r>
                        <a:rPr/>
                        <a:t>Proposal</a:t>
                      </a:r>
                    </a:p>
                  </a:txBody>
                </a:tc>
                <a:tc>
                  <a:txBody>
                    <a:bodyPr/>
                    <a:lstStyle/>
                    <a:p>
                      <a:pPr lvl="0" indent="0" marL="0">
                        <a:buNone/>
                      </a:pPr>
                      <a:r>
                        <a:rPr/>
                        <a:t>$15,000</a:t>
                      </a:r>
                    </a:p>
                  </a:txBody>
                </a:tc>
                <a:tc>
                  <a:txBody>
                    <a:bodyPr/>
                    <a:lstStyle/>
                    <a:p>
                      <a:pPr lvl="0" indent="0" marL="0">
                        <a:buNone/>
                      </a:pPr>
                      <a:r>
                        <a:rPr/>
                        <a:t>$1.50</a:t>
                      </a:r>
                    </a:p>
                  </a:txBody>
                </a:tc>
                <a:tc>
                  <a:txBody>
                    <a:bodyPr/>
                    <a:lstStyle/>
                    <a:p>
                      <a:pPr lvl="0" indent="0" marL="0">
                        <a:buNone/>
                      </a:pPr>
                      <a:r>
                        <a:rPr/>
                        <a:t>$800 (4 hours design)</a:t>
                      </a:r>
                    </a:p>
                  </a:txBody>
                </a:tc>
                <a:tc>
                  <a:txBody>
                    <a:bodyPr/>
                    <a:lstStyle/>
                    <a:p>
                      <a:pPr lvl="0" indent="0" marL="0">
                        <a:buNone/>
                      </a:pPr>
                      <a:r>
                        <a:rPr/>
                        <a:t>95%</a:t>
                      </a:r>
                    </a:p>
                  </a:txBody>
                </a:tc>
              </a:tr>
              <a:tr h="0">
                <a:tc>
                  <a:txBody>
                    <a:bodyPr/>
                    <a:lstStyle/>
                    <a:p>
                      <a:pPr lvl="0" indent="0" marL="0">
                        <a:buNone/>
                      </a:pPr>
                      <a:r>
                        <a:rPr/>
                        <a:t>Full Redesign</a:t>
                      </a:r>
                    </a:p>
                  </a:txBody>
                </a:tc>
                <a:tc>
                  <a:txBody>
                    <a:bodyPr/>
                    <a:lstStyle/>
                    <a:p>
                      <a:pPr lvl="0" indent="0" marL="0">
                        <a:buNone/>
                      </a:pPr>
                      <a:r>
                        <a:rPr/>
                        <a:t>$50,000</a:t>
                      </a:r>
                    </a:p>
                  </a:txBody>
                </a:tc>
                <a:tc>
                  <a:txBody>
                    <a:bodyPr/>
                    <a:lstStyle/>
                    <a:p>
                      <a:pPr lvl="0" indent="0" marL="0">
                        <a:buNone/>
                      </a:pPr>
                      <a:r>
                        <a:rPr/>
                        <a:t>$1.50</a:t>
                      </a:r>
                    </a:p>
                  </a:txBody>
                </a:tc>
                <a:tc>
                  <a:txBody>
                    <a:bodyPr/>
                    <a:lstStyle/>
                    <a:p>
                      <a:pPr lvl="0" indent="0" marL="0">
                        <a:buNone/>
                      </a:pPr>
                      <a:r>
                        <a:rPr/>
                        <a:t>$2,000 (8 hours eng)</a:t>
                      </a:r>
                    </a:p>
                  </a:txBody>
                </a:tc>
                <a:tc>
                  <a:txBody>
                    <a:bodyPr/>
                    <a:lstStyle/>
                    <a:p>
                      <a:pPr lvl="0" indent="0" marL="0">
                        <a:buNone/>
                      </a:pPr>
                      <a:r>
                        <a:rPr/>
                        <a:t>96%</a:t>
                      </a:r>
                    </a:p>
                  </a:txBody>
                </a:tc>
              </a:tr>
              <a:tr h="0">
                <a:tc>
                  <a:txBody>
                    <a:bodyPr/>
                    <a:lstStyle/>
                    <a:p>
                      <a:pPr lvl="0" indent="0" marL="0">
                        <a:buNone/>
                      </a:pPr>
                      <a:r>
                        <a:rPr/>
                        <a:t>Retainer</a:t>
                      </a:r>
                    </a:p>
                  </a:txBody>
                </a:tc>
                <a:tc>
                  <a:txBody>
                    <a:bodyPr/>
                    <a:lstStyle/>
                    <a:p>
                      <a:pPr lvl="0" indent="0" marL="0">
                        <a:buNone/>
                      </a:pPr>
                      <a:r>
                        <a:rPr/>
                        <a:t>$3,500/mo</a:t>
                      </a:r>
                    </a:p>
                  </a:txBody>
                </a:tc>
                <a:tc>
                  <a:txBody>
                    <a:bodyPr/>
                    <a:lstStyle/>
                    <a:p>
                      <a:pPr lvl="0" indent="0" marL="0">
                        <a:buNone/>
                      </a:pPr>
                      <a:r>
                        <a:rPr/>
                        <a:t>$1.00/mo</a:t>
                      </a:r>
                    </a:p>
                  </a:txBody>
                </a:tc>
                <a:tc>
                  <a:txBody>
                    <a:bodyPr/>
                    <a:lstStyle/>
                    <a:p>
                      <a:pPr lvl="0" indent="0" marL="0">
                        <a:buNone/>
                      </a:pPr>
                      <a:r>
                        <a:rPr/>
                        <a:t>$3,000 (20 hrs)</a:t>
                      </a:r>
                    </a:p>
                  </a:txBody>
                </a:tc>
                <a:tc>
                  <a:txBody>
                    <a:bodyPr/>
                    <a:lstStyle/>
                    <a:p>
                      <a:pPr lvl="0" indent="0" marL="0">
                        <a:buNone/>
                      </a:pPr>
                      <a:r>
                        <a:rPr/>
                        <a:t>14%</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The pipeline cost is negligible. Margins are driven by labor efficiency, not tooling cost.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11. Risk Mitigation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803400"/>
                <a:gridCol w="3302000"/>
              </a:tblGrid>
              <a:tr h="0">
                <a:tc>
                  <a:txBody>
                    <a:bodyPr/>
                    <a:lstStyle/>
                    <a:p>
                      <a:pPr lvl="0" indent="0" marL="0">
                        <a:buNone/>
                      </a:pPr>
                      <a:r>
                        <a:rPr/>
                        <a:t>Risk</a:t>
                      </a:r>
                    </a:p>
                  </a:txBody>
                  <a:tcPr/>
                </a:tc>
                <a:tc>
                  <a:txBody>
                    <a:bodyPr/>
                    <a:lstStyle/>
                    <a:p>
                      <a:pPr lvl="0" indent="0" marL="0">
                        <a:buNone/>
                      </a:pPr>
                      <a:r>
                        <a:rPr/>
                        <a:t>Mitigation</a:t>
                      </a:r>
                    </a:p>
                  </a:txBody>
                  <a:tcPr/>
                </a:tc>
              </a:tr>
              <a:tr h="0">
                <a:tc>
                  <a:txBody>
                    <a:bodyPr/>
                    <a:lstStyle/>
                    <a:p>
                      <a:pPr lvl="0" indent="0" marL="0">
                        <a:buNone/>
                      </a:pPr>
                      <a:r>
                        <a:rPr b="1"/>
                        <a:t>Model quality variance</a:t>
                      </a:r>
                    </a:p>
                  </a:txBody>
                </a:tc>
                <a:tc>
                  <a:txBody>
                    <a:bodyPr/>
                    <a:lstStyle/>
                    <a:p>
                      <a:pPr lvl="0" indent="0" marL="0">
                        <a:buNone/>
                      </a:pPr>
                      <a:r>
                        <a:rPr/>
                        <a:t>Mandated minimum models per agent; Engineering escalates to Opus on QA failure</a:t>
                      </a:r>
                    </a:p>
                  </a:txBody>
                </a:tc>
              </a:tr>
              <a:tr h="0">
                <a:tc>
                  <a:txBody>
                    <a:bodyPr/>
                    <a:lstStyle/>
                    <a:p>
                      <a:pPr lvl="0" indent="0" marL="0">
                        <a:buNone/>
                      </a:pPr>
                      <a:r>
                        <a:rPr b="1"/>
                        <a:t>Generic output</a:t>
                      </a:r>
                    </a:p>
                  </a:txBody>
                </a:tc>
                <a:tc>
                  <a:txBody>
                    <a:bodyPr/>
                    <a:lstStyle/>
                    <a:p>
                      <a:pPr lvl="0" indent="0" marL="0">
                        <a:buNone/>
                      </a:pPr>
                      <a:r>
                        <a:rPr/>
                        <a:t>Style mode system + “Generic SaaS Tell” QA check + Reference Director</a:t>
                      </a:r>
                    </a:p>
                  </a:txBody>
                </a:tc>
              </a:tr>
              <a:tr h="0">
                <a:tc>
                  <a:txBody>
                    <a:bodyPr/>
                    <a:lstStyle/>
                    <a:p>
                      <a:pPr lvl="0" indent="0" marL="0">
                        <a:buNone/>
                      </a:pPr>
                      <a:r>
                        <a:rPr b="1"/>
                        <a:t>Build failures</a:t>
                      </a:r>
                    </a:p>
                  </a:txBody>
                </a:tc>
                <a:tc>
                  <a:txBody>
                    <a:bodyPr/>
                    <a:lstStyle/>
                    <a:p>
                      <a:pPr lvl="0" indent="0" marL="0">
                        <a:buNone/>
                      </a:pPr>
                      <a:r>
                        <a:rPr/>
                        <a:t>Engineering runs </a:t>
                      </a:r>
                      <a:r>
                        <a:rPr>
                          <a:latin typeface="Courier"/>
                        </a:rPr>
                        <a:t>npm run build</a:t>
                      </a:r>
                      <a:r>
                        <a:rPr/>
                        <a:t> internally; errors feed back into coding loop</a:t>
                      </a:r>
                    </a:p>
                  </a:txBody>
                </a:tc>
              </a:tr>
              <a:tr h="0">
                <a:tc>
                  <a:txBody>
                    <a:bodyPr/>
                    <a:lstStyle/>
                    <a:p>
                      <a:pPr lvl="0" indent="0" marL="0">
                        <a:buNone/>
                      </a:pPr>
                      <a:r>
                        <a:rPr b="1"/>
                        <a:t>Prompt injection</a:t>
                      </a:r>
                    </a:p>
                  </a:txBody>
                </a:tc>
                <a:tc>
                  <a:txBody>
                    <a:bodyPr/>
                    <a:lstStyle/>
                    <a:p>
                      <a:pPr lvl="0" indent="0" marL="0">
                        <a:buNone/>
                      </a:pPr>
                      <a:r>
                        <a:rPr/>
                        <a:t>Analysis/search content passed as data, not instructions; schema validation</a:t>
                      </a:r>
                    </a:p>
                  </a:txBody>
                </a:tc>
              </a:tr>
              <a:tr h="0">
                <a:tc>
                  <a:txBody>
                    <a:bodyPr/>
                    <a:lstStyle/>
                    <a:p>
                      <a:pPr lvl="0" indent="0" marL="0">
                        <a:buNone/>
                      </a:pPr>
                      <a:r>
                        <a:rPr b="1"/>
                        <a:t>SSRF/crawling</a:t>
                      </a:r>
                    </a:p>
                  </a:txBody>
                </a:tc>
                <a:tc>
                  <a:txBody>
                    <a:bodyPr/>
                    <a:lstStyle/>
                    <a:p>
                      <a:pPr lvl="0" indent="0" marL="0">
                        <a:buNone/>
                      </a:pPr>
                      <a:r>
                        <a:rPr/>
                        <a:t>Restricted to public HTTP(S); timeouts; max response size</a:t>
                      </a:r>
                    </a:p>
                  </a:txBody>
                </a:tc>
              </a:tr>
              <a:tr h="0">
                <a:tc>
                  <a:txBody>
                    <a:bodyPr/>
                    <a:lstStyle/>
                    <a:p>
                      <a:pPr lvl="0" indent="0" marL="0">
                        <a:buNone/>
                      </a:pPr>
                      <a:r>
                        <a:rPr b="1"/>
                        <a:t>API rate limits</a:t>
                      </a:r>
                    </a:p>
                  </a:txBody>
                </a:tc>
                <a:tc>
                  <a:txBody>
                    <a:bodyPr/>
                    <a:lstStyle/>
                    <a:p>
                      <a:pPr lvl="0" indent="0" marL="0">
                        <a:buNone/>
                      </a:pPr>
                      <a:r>
                        <a:rPr/>
                        <a:t>Parallel execution toggle; model routing; token caps per agent</a:t>
                      </a:r>
                    </a:p>
                  </a:txBody>
                </a:tc>
              </a:tr>
              <a:tr h="0">
                <a:tc>
                  <a:txBody>
                    <a:bodyPr/>
                    <a:lstStyle/>
                    <a:p>
                      <a:pPr lvl="0" indent="0" marL="0">
                        <a:buNone/>
                      </a:pPr>
                      <a:r>
                        <a:rPr b="1"/>
                        <a:t>Secret exposure</a:t>
                      </a:r>
                    </a:p>
                  </a:txBody>
                </a:tc>
                <a:tc>
                  <a:txBody>
                    <a:bodyPr/>
                    <a:lstStyle/>
                    <a:p>
                      <a:pPr lvl="0" indent="0" marL="0">
                        <a:buNone/>
                      </a:pPr>
                      <a:r>
                        <a:rPr/>
                        <a:t>.env git-ignored; secret manager in production; never logged</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12. Roadmap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93800"/>
                <a:gridCol w="2209800"/>
                <a:gridCol w="1701800"/>
              </a:tblGrid>
              <a:tr h="0">
                <a:tc>
                  <a:txBody>
                    <a:bodyPr/>
                    <a:lstStyle/>
                    <a:p>
                      <a:pPr lvl="0" indent="0" marL="0">
                        <a:buNone/>
                      </a:pPr>
                      <a:r>
                        <a:rPr/>
                        <a:t>Phase</a:t>
                      </a:r>
                    </a:p>
                  </a:txBody>
                  <a:tcPr/>
                </a:tc>
                <a:tc>
                  <a:txBody>
                    <a:bodyPr/>
                    <a:lstStyle/>
                    <a:p>
                      <a:pPr lvl="0" indent="0" marL="0">
                        <a:buNone/>
                      </a:pPr>
                      <a:r>
                        <a:rPr/>
                        <a:t>Deliverable</a:t>
                      </a:r>
                    </a:p>
                  </a:txBody>
                  <a:tcPr/>
                </a:tc>
                <a:tc>
                  <a:txBody>
                    <a:bodyPr/>
                    <a:lstStyle/>
                    <a:p>
                      <a:pPr lvl="0" indent="0" marL="0">
                        <a:buNone/>
                      </a:pPr>
                      <a:r>
                        <a:rPr/>
                        <a:t>Timeline</a:t>
                      </a:r>
                    </a:p>
                  </a:txBody>
                  <a:tcPr/>
                </a:tc>
              </a:tr>
              <a:tr h="0">
                <a:tc>
                  <a:txBody>
                    <a:bodyPr/>
                    <a:lstStyle/>
                    <a:p>
                      <a:pPr lvl="0" indent="0" marL="0">
                        <a:buNone/>
                      </a:pPr>
                      <a:r>
                        <a:rPr b="1"/>
                        <a:t>Phase 0</a:t>
                      </a:r>
                    </a:p>
                  </a:txBody>
                </a:tc>
                <a:tc>
                  <a:txBody>
                    <a:bodyPr/>
                    <a:lstStyle/>
                    <a:p>
                      <a:pPr lvl="0" indent="0" marL="0">
                        <a:buNone/>
                      </a:pPr>
                      <a:r>
                        <a:rPr/>
                        <a:t>Foundation: graph, 10 agents, memory, API, tests, sim mode</a:t>
                      </a:r>
                    </a:p>
                  </a:txBody>
                </a:tc>
                <a:tc>
                  <a:txBody>
                    <a:bodyPr/>
                    <a:lstStyle/>
                    <a:p>
                      <a:pPr lvl="0" indent="0" marL="0">
                        <a:buNone/>
                      </a:pPr>
                      <a:r>
                        <a:rPr/>
                        <a:t>Complete</a:t>
                      </a:r>
                    </a:p>
                  </a:txBody>
                </a:tc>
              </a:tr>
              <a:tr h="0">
                <a:tc>
                  <a:txBody>
                    <a:bodyPr/>
                    <a:lstStyle/>
                    <a:p>
                      <a:pPr lvl="0" indent="0" marL="0">
                        <a:buNone/>
                      </a:pPr>
                      <a:r>
                        <a:rPr b="1"/>
                        <a:t>Phase 1</a:t>
                      </a:r>
                    </a:p>
                  </a:txBody>
                </a:tc>
                <a:tc>
                  <a:txBody>
                    <a:bodyPr/>
                    <a:lstStyle/>
                    <a:p>
                      <a:pPr lvl="0" indent="0" marL="0">
                        <a:buNone/>
                      </a:pPr>
                      <a:r>
                        <a:rPr/>
                        <a:t>Real LLMs: wire Anthropic/OpenAI keys; tune prompts</a:t>
                      </a:r>
                    </a:p>
                  </a:txBody>
                </a:tc>
                <a:tc>
                  <a:txBody>
                    <a:bodyPr/>
                    <a:lstStyle/>
                    <a:p>
                      <a:pPr lvl="0" indent="0" marL="0">
                        <a:buNone/>
                      </a:pPr>
                      <a:r>
                        <a:rPr/>
                        <a:t>2 weeks</a:t>
                      </a:r>
                    </a:p>
                  </a:txBody>
                </a:tc>
              </a:tr>
              <a:tr h="0">
                <a:tc>
                  <a:txBody>
                    <a:bodyPr/>
                    <a:lstStyle/>
                    <a:p>
                      <a:pPr lvl="0" indent="0" marL="0">
                        <a:buNone/>
                      </a:pPr>
                      <a:r>
                        <a:rPr b="1"/>
                        <a:t>Phase 2</a:t>
                      </a:r>
                    </a:p>
                  </a:txBody>
                </a:tc>
                <a:tc>
                  <a:txBody>
                    <a:bodyPr/>
                    <a:lstStyle/>
                    <a:p>
                      <a:pPr lvl="0" indent="0" marL="0">
                        <a:buNone/>
                      </a:pPr>
                      <a:r>
                        <a:rPr/>
                        <a:t>Tool hardening: Playwright fleet, Lighthouse CI, Tavily search</a:t>
                      </a:r>
                    </a:p>
                  </a:txBody>
                </a:tc>
                <a:tc>
                  <a:txBody>
                    <a:bodyPr/>
                    <a:lstStyle/>
                    <a:p>
                      <a:pPr lvl="0" indent="0" marL="0">
                        <a:buNone/>
                      </a:pPr>
                      <a:r>
                        <a:rPr/>
                        <a:t>2 weeks</a:t>
                      </a:r>
                    </a:p>
                  </a:txBody>
                </a:tc>
              </a:tr>
              <a:tr h="0">
                <a:tc>
                  <a:txBody>
                    <a:bodyPr/>
                    <a:lstStyle/>
                    <a:p>
                      <a:pPr lvl="0" indent="0" marL="0">
                        <a:buNone/>
                      </a:pPr>
                      <a:r>
                        <a:rPr b="1"/>
                        <a:t>Phase 3</a:t>
                      </a:r>
                    </a:p>
                  </a:txBody>
                </a:tc>
                <a:tc>
                  <a:txBody>
                    <a:bodyPr/>
                    <a:lstStyle/>
                    <a:p>
                      <a:pPr lvl="0" indent="0" marL="0">
                        <a:buNone/>
                      </a:pPr>
                      <a:r>
                        <a:rPr/>
                        <a:t>Durable infra: Postgres checkpointer, Redis queue, workers</a:t>
                      </a:r>
                    </a:p>
                  </a:txBody>
                </a:tc>
                <a:tc>
                  <a:txBody>
                    <a:bodyPr/>
                    <a:lstStyle/>
                    <a:p>
                      <a:pPr lvl="0" indent="0" marL="0">
                        <a:buNone/>
                      </a:pPr>
                      <a:r>
                        <a:rPr/>
                        <a:t>2 weeks</a:t>
                      </a:r>
                    </a:p>
                  </a:txBody>
                </a:tc>
              </a:tr>
              <a:tr h="0">
                <a:tc>
                  <a:txBody>
                    <a:bodyPr/>
                    <a:lstStyle/>
                    <a:p>
                      <a:pPr lvl="0" indent="0" marL="0">
                        <a:buNone/>
                      </a:pPr>
                      <a:r>
                        <a:rPr b="1"/>
                        <a:t>Phase 4</a:t>
                      </a:r>
                    </a:p>
                  </a:txBody>
                </a:tc>
                <a:tc>
                  <a:txBody>
                    <a:bodyPr/>
                    <a:lstStyle/>
                    <a:p>
                      <a:pPr lvl="0" indent="0" marL="0">
                        <a:buNone/>
                      </a:pPr>
                      <a:r>
                        <a:rPr/>
                        <a:t>HITL product: approval UI, diff viewer, human edit loop</a:t>
                      </a:r>
                    </a:p>
                  </a:txBody>
                </a:tc>
                <a:tc>
                  <a:txBody>
                    <a:bodyPr/>
                    <a:lstStyle/>
                    <a:p>
                      <a:pPr lvl="0" indent="0" marL="0">
                        <a:buNone/>
                      </a:pPr>
                      <a:r>
                        <a:rPr/>
                        <a:t>3 weeks</a:t>
                      </a:r>
                    </a:p>
                  </a:txBody>
                </a:tc>
              </a:tr>
              <a:tr h="0">
                <a:tc>
                  <a:txBody>
                    <a:bodyPr/>
                    <a:lstStyle/>
                    <a:p>
                      <a:pPr lvl="0" indent="0" marL="0">
                        <a:buNone/>
                      </a:pPr>
                      <a:r>
                        <a:rPr b="1"/>
                        <a:t>Phase 5</a:t>
                      </a:r>
                    </a:p>
                  </a:txBody>
                </a:tc>
                <a:tc>
                  <a:txBody>
                    <a:bodyPr/>
                    <a:lstStyle/>
                    <a:p>
                      <a:pPr lvl="0" indent="0" marL="0">
                        <a:buNone/>
                      </a:pPr>
                      <a:r>
                        <a:rPr/>
                        <a:t>Quality loop: learn from QA history to auto-tune prompts</a:t>
                      </a:r>
                    </a:p>
                  </a:txBody>
                </a:tc>
                <a:tc>
                  <a:txBody>
                    <a:bodyPr/>
                    <a:lstStyle/>
                    <a:p>
                      <a:pPr lvl="0" indent="0" marL="0">
                        <a:buNone/>
                      </a:pPr>
                      <a:r>
                        <a:rPr/>
                        <a:t>4 weeks</a:t>
                      </a:r>
                    </a:p>
                  </a:txBody>
                </a:tc>
              </a:tr>
              <a:tr h="0">
                <a:tc>
                  <a:txBody>
                    <a:bodyPr/>
                    <a:lstStyle/>
                    <a:p>
                      <a:pPr lvl="0" indent="0" marL="0">
                        <a:buNone/>
                      </a:pPr>
                      <a:r>
                        <a:rPr b="1"/>
                        <a:t>Phase 6</a:t>
                      </a:r>
                    </a:p>
                  </a:txBody>
                </a:tc>
                <a:tc>
                  <a:txBody>
                    <a:bodyPr/>
                    <a:lstStyle/>
                    <a:p>
                      <a:pPr lvl="0" indent="0" marL="0">
                        <a:buNone/>
                      </a:pPr>
                      <a:r>
                        <a:rPr/>
                        <a:t>Multi-site &amp; CMS export: full-site redesigns, WordPress/Webflow publish</a:t>
                      </a:r>
                    </a:p>
                  </a:txBody>
                </a:tc>
                <a:tc>
                  <a:txBody>
                    <a:bodyPr/>
                    <a:lstStyle/>
                    <a:p>
                      <a:pPr lvl="0" indent="0" marL="0">
                        <a:buNone/>
                      </a:pPr>
                      <a:r>
                        <a:rPr/>
                        <a:t>6 weeks</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13. Conclusion</a:t>
            </a:r>
          </a:p>
          <a:p>
            <a:pPr lvl="0" indent="0" marL="0">
              <a:buNone/>
            </a:pPr>
            <a:r>
              <a:rPr/>
              <a:t>The Frontend Pipeline transforms a frontend development firm from a manual, labor-intensive operation into an AI-augmented agency capable of delivering data-driven, cinematic websites at scale. It standardizes quality through automated audits, reduces delivery time from weeks to hours, and provides auditable, report-driven insights that justify redesign decisions to clients.</a:t>
            </a:r>
          </a:p>
          <a:p>
            <a:pPr lvl="0" indent="0" marL="0">
              <a:buNone/>
            </a:pPr>
            <a:r>
              <a:rPr b="1"/>
              <a:t>Key metrics:</a:t>
            </a:r>
            <a:r>
              <a:rPr/>
              <a:t> - </a:t>
            </a:r>
            <a:r>
              <a:rPr b="1"/>
              <a:t>10x faster</a:t>
            </a:r>
            <a:r>
              <a:rPr/>
              <a:t> than traditional redesign workflows - </a:t>
            </a:r>
            <a:r>
              <a:rPr b="1"/>
              <a:t>$0.60–$1.30</a:t>
            </a:r>
            <a:r>
              <a:rPr/>
              <a:t> in API costs per website - </a:t>
            </a:r>
            <a:r>
              <a:rPr b="1"/>
              <a:t>94–96% margins</a:t>
            </a:r>
            <a:r>
              <a:rPr/>
              <a:t> on standard deliverables - </a:t>
            </a:r>
            <a:r>
              <a:rPr b="1"/>
              <a:t>7-dimension QA gate</a:t>
            </a:r>
            <a:r>
              <a:rPr/>
              <a:t> ensuring consistent quality - </a:t>
            </a:r>
            <a:r>
              <a:rPr b="1"/>
              <a:t>10+ reports</a:t>
            </a:r>
            <a:r>
              <a:rPr/>
              <a:t> per project for client transparency</a:t>
            </a:r>
          </a:p>
          <a:p>
            <a:pPr lvl="0" indent="0" marL="0">
              <a:buNone/>
            </a:pPr>
            <a:r>
              <a:rPr/>
              <a:t>The pipeline is production-ready today in simulation mode. Switching to real LLMs requires zero code changes — only environment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2026-07-14T10:35:31Z</dcterms:created>
  <dcterms:modified xsi:type="dcterms:W3CDTF">2026-07-14T10:35:31Z</dcterms:modified>
</cp:coreProperties>
</file>

<file path=docProps/custom.xml><?xml version="1.0" encoding="utf-8"?>
<Properties xmlns="http://schemas.openxmlformats.org/officeDocument/2006/custom-properties" xmlns:vt="http://schemas.openxmlformats.org/officeDocument/2006/docPropsVTypes"/>
</file>